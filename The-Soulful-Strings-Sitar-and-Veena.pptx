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8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1430000" cy="9188450"/>
  <p:notesSz cx="11430000" cy="91884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3" d="100"/>
          <a:sy n="53" d="100"/>
        </p:scale>
        <p:origin x="1482" y="4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1F1E1E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1" i="0">
                <a:solidFill>
                  <a:srgbClr val="3B3434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1F1E1E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100" b="1" i="0">
                <a:solidFill>
                  <a:srgbClr val="3B3434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1F1E1E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643864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1F1E1E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9033" y="411400"/>
            <a:ext cx="6563222" cy="92527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1F1E1E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9027" y="3145648"/>
            <a:ext cx="5708015" cy="2818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1" i="0">
                <a:solidFill>
                  <a:srgbClr val="3B3434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2133600" y="1546225"/>
            <a:ext cx="6563222" cy="515526"/>
          </a:xfrm>
        </p:spPr>
        <p:txBody>
          <a:bodyPr/>
          <a:lstStyle/>
          <a:p>
            <a:r>
              <a:rPr lang="en-US" dirty="0" err="1" smtClean="0"/>
              <a:t>Poojan</a:t>
            </a:r>
            <a:r>
              <a:rPr lang="en-US" dirty="0" smtClean="0"/>
              <a:t> </a:t>
            </a:r>
            <a:r>
              <a:rPr lang="en-US" dirty="0" err="1" smtClean="0"/>
              <a:t>Ranjya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4736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43564" y="2282825"/>
            <a:ext cx="5363210" cy="107315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>
              <a:lnSpc>
                <a:spcPts val="4200"/>
              </a:lnSpc>
              <a:spcBef>
                <a:spcPts val="50"/>
              </a:spcBef>
            </a:pPr>
            <a:r>
              <a:rPr dirty="0"/>
              <a:t>The</a:t>
            </a:r>
            <a:r>
              <a:rPr spc="-35" dirty="0"/>
              <a:t> </a:t>
            </a:r>
            <a:r>
              <a:rPr dirty="0"/>
              <a:t>Soulful</a:t>
            </a:r>
            <a:r>
              <a:rPr spc="-30" dirty="0"/>
              <a:t> </a:t>
            </a:r>
            <a:r>
              <a:rPr spc="-20" dirty="0"/>
              <a:t>Strings:</a:t>
            </a:r>
            <a:r>
              <a:rPr spc="-30" dirty="0"/>
              <a:t> </a:t>
            </a:r>
            <a:r>
              <a:rPr spc="-10" dirty="0"/>
              <a:t>Sitar </a:t>
            </a:r>
            <a:r>
              <a:rPr spc="100" dirty="0"/>
              <a:t>and</a:t>
            </a:r>
            <a:r>
              <a:rPr spc="-65" dirty="0"/>
              <a:t> </a:t>
            </a:r>
            <a:r>
              <a:rPr spc="-10" dirty="0"/>
              <a:t>Veena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43564" y="3563175"/>
            <a:ext cx="6014085" cy="5397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5000"/>
              </a:lnSpc>
              <a:spcBef>
                <a:spcPts val="9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Two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magnificent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instruments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that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have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shaped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soul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Indian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classical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music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for</a:t>
            </a:r>
            <a:r>
              <a:rPr sz="1250" spc="-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centuries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01399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25"/>
              </a:spcBef>
            </a:pPr>
            <a:r>
              <a:rPr dirty="0"/>
              <a:t>Guardians</a:t>
            </a:r>
            <a:r>
              <a:rPr spc="130" dirty="0"/>
              <a:t> </a:t>
            </a:r>
            <a:r>
              <a:rPr dirty="0"/>
              <a:t>of</a:t>
            </a:r>
            <a:r>
              <a:rPr spc="140" dirty="0"/>
              <a:t> </a:t>
            </a:r>
            <a:r>
              <a:rPr dirty="0"/>
              <a:t>Musical</a:t>
            </a:r>
            <a:r>
              <a:rPr spc="145" dirty="0"/>
              <a:t> </a:t>
            </a:r>
            <a:r>
              <a:rPr spc="-10" dirty="0"/>
              <a:t>Heritage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1781175"/>
            <a:ext cx="6543674" cy="36576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513535" y="1905825"/>
            <a:ext cx="3296920" cy="33020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ct val="137100"/>
              </a:lnSpc>
              <a:spcBef>
                <a:spcPts val="135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Indian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classical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music</a:t>
            </a:r>
            <a:r>
              <a:rPr sz="1250" spc="-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is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a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treasure</a:t>
            </a:r>
            <a:r>
              <a:rPr sz="1250" spc="-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trove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8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5" dirty="0">
                <a:solidFill>
                  <a:srgbClr val="3B3434"/>
                </a:solidFill>
                <a:latin typeface="Verdana"/>
                <a:cs typeface="Verdana"/>
              </a:rPr>
              <a:t>melodic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expression,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8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sitar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and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veena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stand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as</a:t>
            </a:r>
            <a:r>
              <a:rPr sz="1250" spc="-9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two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its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most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celebrated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instruments.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Each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possesses 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a</a:t>
            </a:r>
            <a:r>
              <a:rPr sz="1250" spc="-9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unique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voice,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yet</a:t>
            </a:r>
            <a:r>
              <a:rPr sz="1250" spc="-9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both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share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the </a:t>
            </a: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common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purpose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bringing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ragas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40" dirty="0">
                <a:solidFill>
                  <a:srgbClr val="3B3434"/>
                </a:solidFill>
                <a:latin typeface="Verdana"/>
                <a:cs typeface="Verdana"/>
              </a:rPr>
              <a:t>to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life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with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emotional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5" dirty="0">
                <a:solidFill>
                  <a:srgbClr val="3B3434"/>
                </a:solidFill>
                <a:latin typeface="Verdana"/>
                <a:cs typeface="Verdana"/>
              </a:rPr>
              <a:t>depth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technical brilliance.</a:t>
            </a:r>
            <a:endParaRPr sz="1250">
              <a:latin typeface="Verdana"/>
              <a:cs typeface="Verdana"/>
            </a:endParaRPr>
          </a:p>
          <a:p>
            <a:pPr marL="12700" marR="49530">
              <a:lnSpc>
                <a:spcPct val="136700"/>
              </a:lnSpc>
              <a:spcBef>
                <a:spcPts val="110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Their</a:t>
            </a:r>
            <a:r>
              <a:rPr sz="1250" spc="-5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strings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have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echoed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through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royal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courts,</a:t>
            </a:r>
            <a:r>
              <a:rPr sz="1250" spc="-7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temples,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5" dirty="0">
                <a:solidFill>
                  <a:srgbClr val="3B3434"/>
                </a:solidFill>
                <a:latin typeface="Verdana"/>
                <a:cs typeface="Verdana"/>
              </a:rPr>
              <a:t>concert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halls,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carrying forward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centuries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musical tradition.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3299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1F1D1D"/>
                </a:solidFill>
              </a:rPr>
              <a:t>Journey</a:t>
            </a:r>
            <a:r>
              <a:rPr spc="85" dirty="0">
                <a:solidFill>
                  <a:srgbClr val="1F1D1D"/>
                </a:solidFill>
              </a:rPr>
              <a:t> </a:t>
            </a:r>
            <a:r>
              <a:rPr dirty="0">
                <a:solidFill>
                  <a:srgbClr val="1F1D1D"/>
                </a:solidFill>
              </a:rPr>
              <a:t>Through</a:t>
            </a:r>
            <a:r>
              <a:rPr spc="85" dirty="0">
                <a:solidFill>
                  <a:srgbClr val="1F1D1D"/>
                </a:solidFill>
              </a:rPr>
              <a:t> </a:t>
            </a:r>
            <a:r>
              <a:rPr spc="45" dirty="0">
                <a:solidFill>
                  <a:srgbClr val="1F1D1D"/>
                </a:solidFill>
              </a:rPr>
              <a:t>Time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060007" y="1638299"/>
            <a:ext cx="838200" cy="4019550"/>
            <a:chOff x="5060007" y="1638299"/>
            <a:chExt cx="838200" cy="4019550"/>
          </a:xfrm>
        </p:grpSpPr>
        <p:sp>
          <p:nvSpPr>
            <p:cNvPr id="5" name="object 5"/>
            <p:cNvSpPr/>
            <p:nvPr/>
          </p:nvSpPr>
          <p:spPr>
            <a:xfrm>
              <a:off x="5059997" y="1638299"/>
              <a:ext cx="664845" cy="4019550"/>
            </a:xfrm>
            <a:custGeom>
              <a:avLst/>
              <a:gdLst/>
              <a:ahLst/>
              <a:cxnLst/>
              <a:rect l="l" t="t" r="r" b="b"/>
              <a:pathLst>
                <a:path w="664845" h="4019550">
                  <a:moveTo>
                    <a:pt x="495300" y="178346"/>
                  </a:moveTo>
                  <a:lnTo>
                    <a:pt x="494372" y="176110"/>
                  </a:lnTo>
                  <a:lnTo>
                    <a:pt x="490651" y="172389"/>
                  </a:lnTo>
                  <a:lnTo>
                    <a:pt x="488403" y="171450"/>
                  </a:lnTo>
                  <a:lnTo>
                    <a:pt x="6896" y="171450"/>
                  </a:lnTo>
                  <a:lnTo>
                    <a:pt x="4648" y="172389"/>
                  </a:lnTo>
                  <a:lnTo>
                    <a:pt x="927" y="176110"/>
                  </a:lnTo>
                  <a:lnTo>
                    <a:pt x="0" y="178346"/>
                  </a:lnTo>
                  <a:lnTo>
                    <a:pt x="0" y="180975"/>
                  </a:lnTo>
                  <a:lnTo>
                    <a:pt x="0" y="183616"/>
                  </a:lnTo>
                  <a:lnTo>
                    <a:pt x="927" y="185851"/>
                  </a:lnTo>
                  <a:lnTo>
                    <a:pt x="4648" y="189572"/>
                  </a:lnTo>
                  <a:lnTo>
                    <a:pt x="6896" y="190500"/>
                  </a:lnTo>
                  <a:lnTo>
                    <a:pt x="488403" y="190500"/>
                  </a:lnTo>
                  <a:lnTo>
                    <a:pt x="490651" y="189572"/>
                  </a:lnTo>
                  <a:lnTo>
                    <a:pt x="494372" y="185851"/>
                  </a:lnTo>
                  <a:lnTo>
                    <a:pt x="495300" y="183616"/>
                  </a:lnTo>
                  <a:lnTo>
                    <a:pt x="495300" y="178346"/>
                  </a:lnTo>
                  <a:close/>
                </a:path>
                <a:path w="664845" h="4019550">
                  <a:moveTo>
                    <a:pt x="664514" y="6896"/>
                  </a:moveTo>
                  <a:lnTo>
                    <a:pt x="663587" y="4660"/>
                  </a:lnTo>
                  <a:lnTo>
                    <a:pt x="659866" y="939"/>
                  </a:lnTo>
                  <a:lnTo>
                    <a:pt x="657631" y="0"/>
                  </a:lnTo>
                  <a:lnTo>
                    <a:pt x="652360" y="0"/>
                  </a:lnTo>
                  <a:lnTo>
                    <a:pt x="650125" y="939"/>
                  </a:lnTo>
                  <a:lnTo>
                    <a:pt x="646404" y="4660"/>
                  </a:lnTo>
                  <a:lnTo>
                    <a:pt x="645464" y="6896"/>
                  </a:lnTo>
                  <a:lnTo>
                    <a:pt x="645464" y="4010025"/>
                  </a:lnTo>
                  <a:lnTo>
                    <a:pt x="645464" y="4012666"/>
                  </a:lnTo>
                  <a:lnTo>
                    <a:pt x="646404" y="4014901"/>
                  </a:lnTo>
                  <a:lnTo>
                    <a:pt x="650125" y="4018623"/>
                  </a:lnTo>
                  <a:lnTo>
                    <a:pt x="652360" y="4019550"/>
                  </a:lnTo>
                  <a:lnTo>
                    <a:pt x="657631" y="4019550"/>
                  </a:lnTo>
                  <a:lnTo>
                    <a:pt x="659866" y="4018623"/>
                  </a:lnTo>
                  <a:lnTo>
                    <a:pt x="663587" y="4014901"/>
                  </a:lnTo>
                  <a:lnTo>
                    <a:pt x="664514" y="4012666"/>
                  </a:lnTo>
                  <a:lnTo>
                    <a:pt x="664514" y="6896"/>
                  </a:lnTo>
                  <a:close/>
                </a:path>
              </a:pathLst>
            </a:custGeom>
            <a:solidFill>
              <a:srgbClr val="BAC2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541019" y="1643062"/>
              <a:ext cx="352425" cy="361950"/>
            </a:xfrm>
            <a:custGeom>
              <a:avLst/>
              <a:gdLst/>
              <a:ahLst/>
              <a:cxnLst/>
              <a:rect l="l" t="t" r="r" b="b"/>
              <a:pathLst>
                <a:path w="352425" h="361950">
                  <a:moveTo>
                    <a:pt x="303610" y="361949"/>
                  </a:moveTo>
                  <a:lnTo>
                    <a:pt x="48814" y="361949"/>
                  </a:lnTo>
                  <a:lnTo>
                    <a:pt x="45416" y="361615"/>
                  </a:lnTo>
                  <a:lnTo>
                    <a:pt x="10710" y="341583"/>
                  </a:lnTo>
                  <a:lnTo>
                    <a:pt x="0" y="313135"/>
                  </a:lnTo>
                  <a:lnTo>
                    <a:pt x="0" y="309705"/>
                  </a:lnTo>
                  <a:lnTo>
                    <a:pt x="0" y="48814"/>
                  </a:lnTo>
                  <a:lnTo>
                    <a:pt x="17727" y="12876"/>
                  </a:lnTo>
                  <a:lnTo>
                    <a:pt x="48814" y="0"/>
                  </a:lnTo>
                  <a:lnTo>
                    <a:pt x="303610" y="0"/>
                  </a:lnTo>
                  <a:lnTo>
                    <a:pt x="339548" y="17727"/>
                  </a:lnTo>
                  <a:lnTo>
                    <a:pt x="352424" y="48814"/>
                  </a:lnTo>
                  <a:lnTo>
                    <a:pt x="352424" y="313135"/>
                  </a:lnTo>
                  <a:lnTo>
                    <a:pt x="334697" y="349073"/>
                  </a:lnTo>
                  <a:lnTo>
                    <a:pt x="307008" y="361615"/>
                  </a:lnTo>
                  <a:lnTo>
                    <a:pt x="303610" y="361949"/>
                  </a:lnTo>
                  <a:close/>
                </a:path>
              </a:pathLst>
            </a:custGeom>
            <a:solidFill>
              <a:srgbClr val="D5DB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541019" y="1643062"/>
              <a:ext cx="352425" cy="361950"/>
            </a:xfrm>
            <a:custGeom>
              <a:avLst/>
              <a:gdLst/>
              <a:ahLst/>
              <a:cxnLst/>
              <a:rect l="l" t="t" r="r" b="b"/>
              <a:pathLst>
                <a:path w="352425" h="361950">
                  <a:moveTo>
                    <a:pt x="0" y="309705"/>
                  </a:moveTo>
                  <a:lnTo>
                    <a:pt x="0" y="52244"/>
                  </a:lnTo>
                  <a:lnTo>
                    <a:pt x="0" y="48814"/>
                  </a:lnTo>
                  <a:lnTo>
                    <a:pt x="334" y="45416"/>
                  </a:lnTo>
                  <a:lnTo>
                    <a:pt x="1003" y="42052"/>
                  </a:lnTo>
                  <a:lnTo>
                    <a:pt x="1673" y="38687"/>
                  </a:lnTo>
                  <a:lnTo>
                    <a:pt x="2664" y="35420"/>
                  </a:lnTo>
                  <a:lnTo>
                    <a:pt x="3976" y="32251"/>
                  </a:lnTo>
                  <a:lnTo>
                    <a:pt x="5289" y="29082"/>
                  </a:lnTo>
                  <a:lnTo>
                    <a:pt x="32251" y="3976"/>
                  </a:lnTo>
                  <a:lnTo>
                    <a:pt x="35420" y="2664"/>
                  </a:lnTo>
                  <a:lnTo>
                    <a:pt x="38687" y="1673"/>
                  </a:lnTo>
                  <a:lnTo>
                    <a:pt x="42052" y="1003"/>
                  </a:lnTo>
                  <a:lnTo>
                    <a:pt x="45416" y="334"/>
                  </a:lnTo>
                  <a:lnTo>
                    <a:pt x="48814" y="0"/>
                  </a:lnTo>
                  <a:lnTo>
                    <a:pt x="52244" y="0"/>
                  </a:lnTo>
                  <a:lnTo>
                    <a:pt x="300180" y="0"/>
                  </a:lnTo>
                  <a:lnTo>
                    <a:pt x="303610" y="0"/>
                  </a:lnTo>
                  <a:lnTo>
                    <a:pt x="307008" y="334"/>
                  </a:lnTo>
                  <a:lnTo>
                    <a:pt x="310372" y="1003"/>
                  </a:lnTo>
                  <a:lnTo>
                    <a:pt x="313737" y="1673"/>
                  </a:lnTo>
                  <a:lnTo>
                    <a:pt x="317004" y="2664"/>
                  </a:lnTo>
                  <a:lnTo>
                    <a:pt x="320173" y="3976"/>
                  </a:lnTo>
                  <a:lnTo>
                    <a:pt x="323342" y="5289"/>
                  </a:lnTo>
                  <a:lnTo>
                    <a:pt x="326353" y="6898"/>
                  </a:lnTo>
                  <a:lnTo>
                    <a:pt x="329205" y="8804"/>
                  </a:lnTo>
                  <a:lnTo>
                    <a:pt x="332058" y="10710"/>
                  </a:lnTo>
                  <a:lnTo>
                    <a:pt x="334697" y="12876"/>
                  </a:lnTo>
                  <a:lnTo>
                    <a:pt x="337122" y="15302"/>
                  </a:lnTo>
                  <a:lnTo>
                    <a:pt x="339548" y="17727"/>
                  </a:lnTo>
                  <a:lnTo>
                    <a:pt x="341714" y="20366"/>
                  </a:lnTo>
                  <a:lnTo>
                    <a:pt x="343620" y="23219"/>
                  </a:lnTo>
                  <a:lnTo>
                    <a:pt x="345525" y="26071"/>
                  </a:lnTo>
                  <a:lnTo>
                    <a:pt x="352424" y="52244"/>
                  </a:lnTo>
                  <a:lnTo>
                    <a:pt x="352424" y="309705"/>
                  </a:lnTo>
                  <a:lnTo>
                    <a:pt x="343620" y="338730"/>
                  </a:lnTo>
                  <a:lnTo>
                    <a:pt x="341714" y="341583"/>
                  </a:lnTo>
                  <a:lnTo>
                    <a:pt x="339548" y="344222"/>
                  </a:lnTo>
                  <a:lnTo>
                    <a:pt x="337122" y="346647"/>
                  </a:lnTo>
                  <a:lnTo>
                    <a:pt x="334697" y="349073"/>
                  </a:lnTo>
                  <a:lnTo>
                    <a:pt x="332058" y="351239"/>
                  </a:lnTo>
                  <a:lnTo>
                    <a:pt x="329205" y="353145"/>
                  </a:lnTo>
                  <a:lnTo>
                    <a:pt x="326353" y="355050"/>
                  </a:lnTo>
                  <a:lnTo>
                    <a:pt x="323342" y="356660"/>
                  </a:lnTo>
                  <a:lnTo>
                    <a:pt x="320173" y="357973"/>
                  </a:lnTo>
                  <a:lnTo>
                    <a:pt x="317004" y="359285"/>
                  </a:lnTo>
                  <a:lnTo>
                    <a:pt x="313737" y="360276"/>
                  </a:lnTo>
                  <a:lnTo>
                    <a:pt x="310372" y="360946"/>
                  </a:lnTo>
                  <a:lnTo>
                    <a:pt x="307008" y="361615"/>
                  </a:lnTo>
                  <a:lnTo>
                    <a:pt x="303610" y="361949"/>
                  </a:lnTo>
                  <a:lnTo>
                    <a:pt x="300180" y="361949"/>
                  </a:lnTo>
                  <a:lnTo>
                    <a:pt x="52244" y="361949"/>
                  </a:lnTo>
                  <a:lnTo>
                    <a:pt x="48814" y="361949"/>
                  </a:lnTo>
                  <a:lnTo>
                    <a:pt x="45416" y="361615"/>
                  </a:lnTo>
                  <a:lnTo>
                    <a:pt x="23219" y="353145"/>
                  </a:lnTo>
                  <a:lnTo>
                    <a:pt x="20366" y="351239"/>
                  </a:lnTo>
                  <a:lnTo>
                    <a:pt x="17727" y="349073"/>
                  </a:lnTo>
                  <a:lnTo>
                    <a:pt x="15302" y="346647"/>
                  </a:lnTo>
                  <a:lnTo>
                    <a:pt x="12876" y="344222"/>
                  </a:lnTo>
                  <a:lnTo>
                    <a:pt x="3976" y="329698"/>
                  </a:lnTo>
                  <a:lnTo>
                    <a:pt x="2664" y="326529"/>
                  </a:lnTo>
                  <a:lnTo>
                    <a:pt x="1673" y="323262"/>
                  </a:lnTo>
                  <a:lnTo>
                    <a:pt x="1003" y="319897"/>
                  </a:lnTo>
                  <a:lnTo>
                    <a:pt x="334" y="316533"/>
                  </a:lnTo>
                  <a:lnTo>
                    <a:pt x="0" y="313135"/>
                  </a:lnTo>
                  <a:lnTo>
                    <a:pt x="0" y="309705"/>
                  </a:lnTo>
                  <a:close/>
                </a:path>
              </a:pathLst>
            </a:custGeom>
            <a:ln w="9524">
              <a:solidFill>
                <a:srgbClr val="BAC2D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651698" y="1645840"/>
            <a:ext cx="127000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535" dirty="0">
                <a:solidFill>
                  <a:srgbClr val="3B3434"/>
                </a:solidFill>
                <a:latin typeface="Tahoma"/>
                <a:cs typeface="Tahoma"/>
              </a:rPr>
              <a:t>1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28749" y="1677987"/>
            <a:ext cx="4284980" cy="8724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Vedic</a:t>
            </a:r>
            <a:r>
              <a:rPr sz="1650" b="1" spc="170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25" dirty="0">
                <a:solidFill>
                  <a:srgbClr val="3B3434"/>
                </a:solidFill>
                <a:latin typeface="Tahoma"/>
                <a:cs typeface="Tahoma"/>
              </a:rPr>
              <a:t>Era</a:t>
            </a:r>
            <a:endParaRPr sz="1650">
              <a:latin typeface="Tahoma"/>
              <a:cs typeface="Tahoma"/>
            </a:endParaRPr>
          </a:p>
          <a:p>
            <a:pPr marR="5080" algn="r">
              <a:lnSpc>
                <a:spcPct val="100000"/>
              </a:lnSpc>
              <a:spcBef>
                <a:spcPts val="1045"/>
              </a:spcBef>
            </a:pP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Ancient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roots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veena's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predecessor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mentioned</a:t>
            </a:r>
            <a:endParaRPr sz="1250">
              <a:latin typeface="Verdana"/>
              <a:cs typeface="Verdana"/>
            </a:endParaRPr>
          </a:p>
          <a:p>
            <a:pPr marR="5080" algn="r">
              <a:lnSpc>
                <a:spcPct val="100000"/>
              </a:lnSpc>
              <a:spcBef>
                <a:spcPts val="60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sacred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texts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531792" y="2619374"/>
            <a:ext cx="838200" cy="361950"/>
            <a:chOff x="5531792" y="2619374"/>
            <a:chExt cx="838200" cy="361950"/>
          </a:xfrm>
        </p:grpSpPr>
        <p:sp>
          <p:nvSpPr>
            <p:cNvPr id="11" name="object 11"/>
            <p:cNvSpPr/>
            <p:nvPr/>
          </p:nvSpPr>
          <p:spPr>
            <a:xfrm>
              <a:off x="5874692" y="2790824"/>
              <a:ext cx="495300" cy="19050"/>
            </a:xfrm>
            <a:custGeom>
              <a:avLst/>
              <a:gdLst/>
              <a:ahLst/>
              <a:cxnLst/>
              <a:rect l="l" t="t" r="r" b="b"/>
              <a:pathLst>
                <a:path w="495300" h="19050">
                  <a:moveTo>
                    <a:pt x="488405" y="19049"/>
                  </a:moveTo>
                  <a:lnTo>
                    <a:pt x="6894" y="19049"/>
                  </a:lnTo>
                  <a:lnTo>
                    <a:pt x="4649" y="18120"/>
                  </a:lnTo>
                  <a:lnTo>
                    <a:pt x="929" y="14400"/>
                  </a:lnTo>
                  <a:lnTo>
                    <a:pt x="0" y="12155"/>
                  </a:lnTo>
                  <a:lnTo>
                    <a:pt x="0" y="9524"/>
                  </a:lnTo>
                  <a:lnTo>
                    <a:pt x="0" y="6894"/>
                  </a:lnTo>
                  <a:lnTo>
                    <a:pt x="929" y="4649"/>
                  </a:lnTo>
                  <a:lnTo>
                    <a:pt x="4649" y="929"/>
                  </a:lnTo>
                  <a:lnTo>
                    <a:pt x="6894" y="0"/>
                  </a:lnTo>
                  <a:lnTo>
                    <a:pt x="488405" y="0"/>
                  </a:lnTo>
                  <a:lnTo>
                    <a:pt x="490650" y="929"/>
                  </a:lnTo>
                  <a:lnTo>
                    <a:pt x="494369" y="4649"/>
                  </a:lnTo>
                  <a:lnTo>
                    <a:pt x="495299" y="6894"/>
                  </a:lnTo>
                  <a:lnTo>
                    <a:pt x="495299" y="12155"/>
                  </a:lnTo>
                  <a:lnTo>
                    <a:pt x="494369" y="14400"/>
                  </a:lnTo>
                  <a:lnTo>
                    <a:pt x="490650" y="18120"/>
                  </a:lnTo>
                  <a:lnTo>
                    <a:pt x="488405" y="19049"/>
                  </a:lnTo>
                  <a:close/>
                </a:path>
              </a:pathLst>
            </a:custGeom>
            <a:solidFill>
              <a:srgbClr val="BAC2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536555" y="2624137"/>
              <a:ext cx="352425" cy="352425"/>
            </a:xfrm>
            <a:custGeom>
              <a:avLst/>
              <a:gdLst/>
              <a:ahLst/>
              <a:cxnLst/>
              <a:rect l="l" t="t" r="r" b="b"/>
              <a:pathLst>
                <a:path w="352425" h="352425">
                  <a:moveTo>
                    <a:pt x="303610" y="352424"/>
                  </a:moveTo>
                  <a:lnTo>
                    <a:pt x="48814" y="352424"/>
                  </a:lnTo>
                  <a:lnTo>
                    <a:pt x="45416" y="352090"/>
                  </a:lnTo>
                  <a:lnTo>
                    <a:pt x="10710" y="332058"/>
                  </a:lnTo>
                  <a:lnTo>
                    <a:pt x="0" y="303610"/>
                  </a:lnTo>
                  <a:lnTo>
                    <a:pt x="0" y="300180"/>
                  </a:lnTo>
                  <a:lnTo>
                    <a:pt x="0" y="48814"/>
                  </a:lnTo>
                  <a:lnTo>
                    <a:pt x="17727" y="12876"/>
                  </a:lnTo>
                  <a:lnTo>
                    <a:pt x="48814" y="0"/>
                  </a:lnTo>
                  <a:lnTo>
                    <a:pt x="303610" y="0"/>
                  </a:lnTo>
                  <a:lnTo>
                    <a:pt x="339548" y="17727"/>
                  </a:lnTo>
                  <a:lnTo>
                    <a:pt x="352424" y="48814"/>
                  </a:lnTo>
                  <a:lnTo>
                    <a:pt x="352424" y="303610"/>
                  </a:lnTo>
                  <a:lnTo>
                    <a:pt x="334697" y="339548"/>
                  </a:lnTo>
                  <a:lnTo>
                    <a:pt x="307008" y="352090"/>
                  </a:lnTo>
                  <a:lnTo>
                    <a:pt x="303610" y="352424"/>
                  </a:lnTo>
                  <a:close/>
                </a:path>
              </a:pathLst>
            </a:custGeom>
            <a:solidFill>
              <a:srgbClr val="D5DB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536555" y="2624137"/>
              <a:ext cx="352425" cy="352425"/>
            </a:xfrm>
            <a:custGeom>
              <a:avLst/>
              <a:gdLst/>
              <a:ahLst/>
              <a:cxnLst/>
              <a:rect l="l" t="t" r="r" b="b"/>
              <a:pathLst>
                <a:path w="352425" h="352425">
                  <a:moveTo>
                    <a:pt x="0" y="300180"/>
                  </a:moveTo>
                  <a:lnTo>
                    <a:pt x="0" y="52244"/>
                  </a:lnTo>
                  <a:lnTo>
                    <a:pt x="0" y="48814"/>
                  </a:lnTo>
                  <a:lnTo>
                    <a:pt x="334" y="45416"/>
                  </a:lnTo>
                  <a:lnTo>
                    <a:pt x="1003" y="42052"/>
                  </a:lnTo>
                  <a:lnTo>
                    <a:pt x="1673" y="38687"/>
                  </a:lnTo>
                  <a:lnTo>
                    <a:pt x="2664" y="35420"/>
                  </a:lnTo>
                  <a:lnTo>
                    <a:pt x="3976" y="32251"/>
                  </a:lnTo>
                  <a:lnTo>
                    <a:pt x="5289" y="29082"/>
                  </a:lnTo>
                  <a:lnTo>
                    <a:pt x="32251" y="3976"/>
                  </a:lnTo>
                  <a:lnTo>
                    <a:pt x="35420" y="2664"/>
                  </a:lnTo>
                  <a:lnTo>
                    <a:pt x="38687" y="1673"/>
                  </a:lnTo>
                  <a:lnTo>
                    <a:pt x="42052" y="1003"/>
                  </a:lnTo>
                  <a:lnTo>
                    <a:pt x="45416" y="334"/>
                  </a:lnTo>
                  <a:lnTo>
                    <a:pt x="48814" y="0"/>
                  </a:lnTo>
                  <a:lnTo>
                    <a:pt x="52244" y="0"/>
                  </a:lnTo>
                  <a:lnTo>
                    <a:pt x="300180" y="0"/>
                  </a:lnTo>
                  <a:lnTo>
                    <a:pt x="303610" y="0"/>
                  </a:lnTo>
                  <a:lnTo>
                    <a:pt x="307008" y="334"/>
                  </a:lnTo>
                  <a:lnTo>
                    <a:pt x="310372" y="1003"/>
                  </a:lnTo>
                  <a:lnTo>
                    <a:pt x="313737" y="1673"/>
                  </a:lnTo>
                  <a:lnTo>
                    <a:pt x="317004" y="2664"/>
                  </a:lnTo>
                  <a:lnTo>
                    <a:pt x="320173" y="3976"/>
                  </a:lnTo>
                  <a:lnTo>
                    <a:pt x="323342" y="5289"/>
                  </a:lnTo>
                  <a:lnTo>
                    <a:pt x="326353" y="6898"/>
                  </a:lnTo>
                  <a:lnTo>
                    <a:pt x="329205" y="8804"/>
                  </a:lnTo>
                  <a:lnTo>
                    <a:pt x="332058" y="10710"/>
                  </a:lnTo>
                  <a:lnTo>
                    <a:pt x="334697" y="12876"/>
                  </a:lnTo>
                  <a:lnTo>
                    <a:pt x="337122" y="15302"/>
                  </a:lnTo>
                  <a:lnTo>
                    <a:pt x="339548" y="17727"/>
                  </a:lnTo>
                  <a:lnTo>
                    <a:pt x="341714" y="20366"/>
                  </a:lnTo>
                  <a:lnTo>
                    <a:pt x="343620" y="23219"/>
                  </a:lnTo>
                  <a:lnTo>
                    <a:pt x="345525" y="26071"/>
                  </a:lnTo>
                  <a:lnTo>
                    <a:pt x="352424" y="52244"/>
                  </a:lnTo>
                  <a:lnTo>
                    <a:pt x="352424" y="300180"/>
                  </a:lnTo>
                  <a:lnTo>
                    <a:pt x="352424" y="303610"/>
                  </a:lnTo>
                  <a:lnTo>
                    <a:pt x="352090" y="307008"/>
                  </a:lnTo>
                  <a:lnTo>
                    <a:pt x="351421" y="310372"/>
                  </a:lnTo>
                  <a:lnTo>
                    <a:pt x="350751" y="313737"/>
                  </a:lnTo>
                  <a:lnTo>
                    <a:pt x="343620" y="329205"/>
                  </a:lnTo>
                  <a:lnTo>
                    <a:pt x="341714" y="332058"/>
                  </a:lnTo>
                  <a:lnTo>
                    <a:pt x="339548" y="334697"/>
                  </a:lnTo>
                  <a:lnTo>
                    <a:pt x="337122" y="337122"/>
                  </a:lnTo>
                  <a:lnTo>
                    <a:pt x="334697" y="339548"/>
                  </a:lnTo>
                  <a:lnTo>
                    <a:pt x="332058" y="341714"/>
                  </a:lnTo>
                  <a:lnTo>
                    <a:pt x="329205" y="343620"/>
                  </a:lnTo>
                  <a:lnTo>
                    <a:pt x="326353" y="345525"/>
                  </a:lnTo>
                  <a:lnTo>
                    <a:pt x="310372" y="351421"/>
                  </a:lnTo>
                  <a:lnTo>
                    <a:pt x="307008" y="352090"/>
                  </a:lnTo>
                  <a:lnTo>
                    <a:pt x="303610" y="352424"/>
                  </a:lnTo>
                  <a:lnTo>
                    <a:pt x="300180" y="352424"/>
                  </a:lnTo>
                  <a:lnTo>
                    <a:pt x="52244" y="352424"/>
                  </a:lnTo>
                  <a:lnTo>
                    <a:pt x="23219" y="343620"/>
                  </a:lnTo>
                  <a:lnTo>
                    <a:pt x="20366" y="341714"/>
                  </a:lnTo>
                  <a:lnTo>
                    <a:pt x="17727" y="339548"/>
                  </a:lnTo>
                  <a:lnTo>
                    <a:pt x="15302" y="337122"/>
                  </a:lnTo>
                  <a:lnTo>
                    <a:pt x="12876" y="334697"/>
                  </a:lnTo>
                  <a:lnTo>
                    <a:pt x="10710" y="332058"/>
                  </a:lnTo>
                  <a:lnTo>
                    <a:pt x="8804" y="329205"/>
                  </a:lnTo>
                  <a:lnTo>
                    <a:pt x="6898" y="326353"/>
                  </a:lnTo>
                  <a:lnTo>
                    <a:pt x="5289" y="323342"/>
                  </a:lnTo>
                  <a:lnTo>
                    <a:pt x="3976" y="320173"/>
                  </a:lnTo>
                  <a:lnTo>
                    <a:pt x="2664" y="317004"/>
                  </a:lnTo>
                  <a:lnTo>
                    <a:pt x="1673" y="313737"/>
                  </a:lnTo>
                  <a:lnTo>
                    <a:pt x="1003" y="310372"/>
                  </a:lnTo>
                  <a:lnTo>
                    <a:pt x="334" y="307008"/>
                  </a:lnTo>
                  <a:lnTo>
                    <a:pt x="0" y="303610"/>
                  </a:lnTo>
                  <a:lnTo>
                    <a:pt x="0" y="300180"/>
                  </a:lnTo>
                  <a:close/>
                </a:path>
              </a:pathLst>
            </a:custGeom>
            <a:ln w="9524">
              <a:solidFill>
                <a:srgbClr val="BAC2D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625504" y="2617390"/>
            <a:ext cx="179070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50" dirty="0">
                <a:solidFill>
                  <a:srgbClr val="3B3434"/>
                </a:solidFill>
                <a:latin typeface="Tahoma"/>
                <a:cs typeface="Tahoma"/>
              </a:rPr>
              <a:t>2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516687" y="2659062"/>
            <a:ext cx="4010025" cy="86296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Medieval</a:t>
            </a:r>
            <a:r>
              <a:rPr sz="1650" b="1" spc="200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Period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5000"/>
              </a:lnSpc>
              <a:spcBef>
                <a:spcPts val="52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Sitar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emerges,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influenced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by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Persian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instruments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brought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by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Islamic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rulers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060007" y="3457574"/>
            <a:ext cx="838200" cy="371475"/>
            <a:chOff x="5060007" y="3457574"/>
            <a:chExt cx="838200" cy="371475"/>
          </a:xfrm>
        </p:grpSpPr>
        <p:sp>
          <p:nvSpPr>
            <p:cNvPr id="17" name="object 17"/>
            <p:cNvSpPr/>
            <p:nvPr/>
          </p:nvSpPr>
          <p:spPr>
            <a:xfrm>
              <a:off x="5060007" y="3629024"/>
              <a:ext cx="495300" cy="19050"/>
            </a:xfrm>
            <a:custGeom>
              <a:avLst/>
              <a:gdLst/>
              <a:ahLst/>
              <a:cxnLst/>
              <a:rect l="l" t="t" r="r" b="b"/>
              <a:pathLst>
                <a:path w="495300" h="19050">
                  <a:moveTo>
                    <a:pt x="488405" y="19049"/>
                  </a:moveTo>
                  <a:lnTo>
                    <a:pt x="6894" y="19049"/>
                  </a:lnTo>
                  <a:lnTo>
                    <a:pt x="4649" y="18120"/>
                  </a:lnTo>
                  <a:lnTo>
                    <a:pt x="929" y="14400"/>
                  </a:lnTo>
                  <a:lnTo>
                    <a:pt x="0" y="12155"/>
                  </a:lnTo>
                  <a:lnTo>
                    <a:pt x="0" y="9524"/>
                  </a:lnTo>
                  <a:lnTo>
                    <a:pt x="0" y="6894"/>
                  </a:lnTo>
                  <a:lnTo>
                    <a:pt x="929" y="4649"/>
                  </a:lnTo>
                  <a:lnTo>
                    <a:pt x="4649" y="929"/>
                  </a:lnTo>
                  <a:lnTo>
                    <a:pt x="6894" y="0"/>
                  </a:lnTo>
                  <a:lnTo>
                    <a:pt x="488405" y="0"/>
                  </a:lnTo>
                  <a:lnTo>
                    <a:pt x="490650" y="929"/>
                  </a:lnTo>
                  <a:lnTo>
                    <a:pt x="494369" y="4649"/>
                  </a:lnTo>
                  <a:lnTo>
                    <a:pt x="495299" y="6894"/>
                  </a:lnTo>
                  <a:lnTo>
                    <a:pt x="495299" y="12155"/>
                  </a:lnTo>
                  <a:lnTo>
                    <a:pt x="494369" y="14400"/>
                  </a:lnTo>
                  <a:lnTo>
                    <a:pt x="490650" y="18120"/>
                  </a:lnTo>
                  <a:lnTo>
                    <a:pt x="488405" y="19049"/>
                  </a:lnTo>
                  <a:close/>
                </a:path>
              </a:pathLst>
            </a:custGeom>
            <a:solidFill>
              <a:srgbClr val="BAC2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541019" y="3462337"/>
              <a:ext cx="352425" cy="361950"/>
            </a:xfrm>
            <a:custGeom>
              <a:avLst/>
              <a:gdLst/>
              <a:ahLst/>
              <a:cxnLst/>
              <a:rect l="l" t="t" r="r" b="b"/>
              <a:pathLst>
                <a:path w="352425" h="361950">
                  <a:moveTo>
                    <a:pt x="303610" y="361949"/>
                  </a:moveTo>
                  <a:lnTo>
                    <a:pt x="48814" y="361949"/>
                  </a:lnTo>
                  <a:lnTo>
                    <a:pt x="45416" y="361615"/>
                  </a:lnTo>
                  <a:lnTo>
                    <a:pt x="10710" y="341583"/>
                  </a:lnTo>
                  <a:lnTo>
                    <a:pt x="0" y="313135"/>
                  </a:lnTo>
                  <a:lnTo>
                    <a:pt x="0" y="309705"/>
                  </a:lnTo>
                  <a:lnTo>
                    <a:pt x="0" y="48814"/>
                  </a:lnTo>
                  <a:lnTo>
                    <a:pt x="17727" y="12876"/>
                  </a:lnTo>
                  <a:lnTo>
                    <a:pt x="48814" y="0"/>
                  </a:lnTo>
                  <a:lnTo>
                    <a:pt x="303610" y="0"/>
                  </a:lnTo>
                  <a:lnTo>
                    <a:pt x="339548" y="17727"/>
                  </a:lnTo>
                  <a:lnTo>
                    <a:pt x="352424" y="48814"/>
                  </a:lnTo>
                  <a:lnTo>
                    <a:pt x="352424" y="313135"/>
                  </a:lnTo>
                  <a:lnTo>
                    <a:pt x="334697" y="349073"/>
                  </a:lnTo>
                  <a:lnTo>
                    <a:pt x="307008" y="361615"/>
                  </a:lnTo>
                  <a:lnTo>
                    <a:pt x="303610" y="361949"/>
                  </a:lnTo>
                  <a:close/>
                </a:path>
              </a:pathLst>
            </a:custGeom>
            <a:solidFill>
              <a:srgbClr val="D5DB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541019" y="3462337"/>
              <a:ext cx="352425" cy="361950"/>
            </a:xfrm>
            <a:custGeom>
              <a:avLst/>
              <a:gdLst/>
              <a:ahLst/>
              <a:cxnLst/>
              <a:rect l="l" t="t" r="r" b="b"/>
              <a:pathLst>
                <a:path w="352425" h="361950">
                  <a:moveTo>
                    <a:pt x="0" y="309705"/>
                  </a:moveTo>
                  <a:lnTo>
                    <a:pt x="0" y="52244"/>
                  </a:lnTo>
                  <a:lnTo>
                    <a:pt x="0" y="48814"/>
                  </a:lnTo>
                  <a:lnTo>
                    <a:pt x="334" y="45416"/>
                  </a:lnTo>
                  <a:lnTo>
                    <a:pt x="1003" y="42052"/>
                  </a:lnTo>
                  <a:lnTo>
                    <a:pt x="1673" y="38687"/>
                  </a:lnTo>
                  <a:lnTo>
                    <a:pt x="2664" y="35420"/>
                  </a:lnTo>
                  <a:lnTo>
                    <a:pt x="3976" y="32251"/>
                  </a:lnTo>
                  <a:lnTo>
                    <a:pt x="5289" y="29082"/>
                  </a:lnTo>
                  <a:lnTo>
                    <a:pt x="32251" y="3976"/>
                  </a:lnTo>
                  <a:lnTo>
                    <a:pt x="35420" y="2664"/>
                  </a:lnTo>
                  <a:lnTo>
                    <a:pt x="38687" y="1673"/>
                  </a:lnTo>
                  <a:lnTo>
                    <a:pt x="42052" y="1003"/>
                  </a:lnTo>
                  <a:lnTo>
                    <a:pt x="45416" y="334"/>
                  </a:lnTo>
                  <a:lnTo>
                    <a:pt x="48814" y="0"/>
                  </a:lnTo>
                  <a:lnTo>
                    <a:pt x="52244" y="0"/>
                  </a:lnTo>
                  <a:lnTo>
                    <a:pt x="300180" y="0"/>
                  </a:lnTo>
                  <a:lnTo>
                    <a:pt x="303610" y="0"/>
                  </a:lnTo>
                  <a:lnTo>
                    <a:pt x="307008" y="334"/>
                  </a:lnTo>
                  <a:lnTo>
                    <a:pt x="310372" y="1003"/>
                  </a:lnTo>
                  <a:lnTo>
                    <a:pt x="313737" y="1673"/>
                  </a:lnTo>
                  <a:lnTo>
                    <a:pt x="317004" y="2664"/>
                  </a:lnTo>
                  <a:lnTo>
                    <a:pt x="320173" y="3976"/>
                  </a:lnTo>
                  <a:lnTo>
                    <a:pt x="323342" y="5289"/>
                  </a:lnTo>
                  <a:lnTo>
                    <a:pt x="326353" y="6898"/>
                  </a:lnTo>
                  <a:lnTo>
                    <a:pt x="329205" y="8804"/>
                  </a:lnTo>
                  <a:lnTo>
                    <a:pt x="332058" y="10710"/>
                  </a:lnTo>
                  <a:lnTo>
                    <a:pt x="334697" y="12876"/>
                  </a:lnTo>
                  <a:lnTo>
                    <a:pt x="337122" y="15302"/>
                  </a:lnTo>
                  <a:lnTo>
                    <a:pt x="339548" y="17727"/>
                  </a:lnTo>
                  <a:lnTo>
                    <a:pt x="341714" y="20366"/>
                  </a:lnTo>
                  <a:lnTo>
                    <a:pt x="343620" y="23219"/>
                  </a:lnTo>
                  <a:lnTo>
                    <a:pt x="345525" y="26071"/>
                  </a:lnTo>
                  <a:lnTo>
                    <a:pt x="352424" y="52244"/>
                  </a:lnTo>
                  <a:lnTo>
                    <a:pt x="352424" y="309705"/>
                  </a:lnTo>
                  <a:lnTo>
                    <a:pt x="343620" y="338730"/>
                  </a:lnTo>
                  <a:lnTo>
                    <a:pt x="341714" y="341583"/>
                  </a:lnTo>
                  <a:lnTo>
                    <a:pt x="339548" y="344222"/>
                  </a:lnTo>
                  <a:lnTo>
                    <a:pt x="337122" y="346647"/>
                  </a:lnTo>
                  <a:lnTo>
                    <a:pt x="334697" y="349073"/>
                  </a:lnTo>
                  <a:lnTo>
                    <a:pt x="332058" y="351239"/>
                  </a:lnTo>
                  <a:lnTo>
                    <a:pt x="329205" y="353145"/>
                  </a:lnTo>
                  <a:lnTo>
                    <a:pt x="326353" y="355050"/>
                  </a:lnTo>
                  <a:lnTo>
                    <a:pt x="323342" y="356660"/>
                  </a:lnTo>
                  <a:lnTo>
                    <a:pt x="320173" y="357973"/>
                  </a:lnTo>
                  <a:lnTo>
                    <a:pt x="317004" y="359285"/>
                  </a:lnTo>
                  <a:lnTo>
                    <a:pt x="313737" y="360276"/>
                  </a:lnTo>
                  <a:lnTo>
                    <a:pt x="310372" y="360946"/>
                  </a:lnTo>
                  <a:lnTo>
                    <a:pt x="307008" y="361615"/>
                  </a:lnTo>
                  <a:lnTo>
                    <a:pt x="303610" y="361949"/>
                  </a:lnTo>
                  <a:lnTo>
                    <a:pt x="300180" y="361949"/>
                  </a:lnTo>
                  <a:lnTo>
                    <a:pt x="52244" y="361949"/>
                  </a:lnTo>
                  <a:lnTo>
                    <a:pt x="48814" y="361949"/>
                  </a:lnTo>
                  <a:lnTo>
                    <a:pt x="45416" y="361615"/>
                  </a:lnTo>
                  <a:lnTo>
                    <a:pt x="23219" y="353145"/>
                  </a:lnTo>
                  <a:lnTo>
                    <a:pt x="20366" y="351239"/>
                  </a:lnTo>
                  <a:lnTo>
                    <a:pt x="17727" y="349073"/>
                  </a:lnTo>
                  <a:lnTo>
                    <a:pt x="15302" y="346647"/>
                  </a:lnTo>
                  <a:lnTo>
                    <a:pt x="12876" y="344222"/>
                  </a:lnTo>
                  <a:lnTo>
                    <a:pt x="3976" y="329698"/>
                  </a:lnTo>
                  <a:lnTo>
                    <a:pt x="2664" y="326529"/>
                  </a:lnTo>
                  <a:lnTo>
                    <a:pt x="1673" y="323262"/>
                  </a:lnTo>
                  <a:lnTo>
                    <a:pt x="1003" y="319897"/>
                  </a:lnTo>
                  <a:lnTo>
                    <a:pt x="334" y="316533"/>
                  </a:lnTo>
                  <a:lnTo>
                    <a:pt x="0" y="313135"/>
                  </a:lnTo>
                  <a:lnTo>
                    <a:pt x="0" y="309705"/>
                  </a:lnTo>
                  <a:close/>
                </a:path>
              </a:pathLst>
            </a:custGeom>
            <a:ln w="9524">
              <a:solidFill>
                <a:srgbClr val="BAC2D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625355" y="3465115"/>
            <a:ext cx="179705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50" dirty="0">
                <a:solidFill>
                  <a:srgbClr val="3B3434"/>
                </a:solidFill>
                <a:latin typeface="Tahoma"/>
                <a:cs typeface="Tahoma"/>
              </a:rPr>
              <a:t>3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33102" y="3497262"/>
            <a:ext cx="3980815" cy="8724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378075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3B3434"/>
                </a:solidFill>
                <a:latin typeface="Tahoma"/>
                <a:cs typeface="Tahoma"/>
              </a:rPr>
              <a:t>Mughal</a:t>
            </a:r>
            <a:r>
              <a:rPr sz="1650" b="1" spc="-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Courts</a:t>
            </a:r>
            <a:endParaRPr sz="1650">
              <a:latin typeface="Tahoma"/>
              <a:cs typeface="Tahoma"/>
            </a:endParaRPr>
          </a:p>
          <a:p>
            <a:pPr marR="5080" algn="r">
              <a:lnSpc>
                <a:spcPct val="100000"/>
              </a:lnSpc>
              <a:spcBef>
                <a:spcPts val="1045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Both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instruments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flourish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under</a:t>
            </a:r>
            <a:r>
              <a:rPr sz="1250" spc="-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royal patronage,</a:t>
            </a:r>
            <a:endParaRPr sz="1250">
              <a:latin typeface="Verdana"/>
              <a:cs typeface="Verdana"/>
            </a:endParaRPr>
          </a:p>
          <a:p>
            <a:pPr marR="5080" algn="r">
              <a:lnSpc>
                <a:spcPct val="100000"/>
              </a:lnSpc>
              <a:spcBef>
                <a:spcPts val="60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reaching</a:t>
            </a:r>
            <a:r>
              <a:rPr sz="1250" spc="1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artistic</a:t>
            </a:r>
            <a:r>
              <a:rPr sz="1250" spc="114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heights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5531792" y="4305299"/>
            <a:ext cx="838200" cy="361950"/>
            <a:chOff x="5531792" y="4305299"/>
            <a:chExt cx="838200" cy="361950"/>
          </a:xfrm>
        </p:grpSpPr>
        <p:sp>
          <p:nvSpPr>
            <p:cNvPr id="23" name="object 23"/>
            <p:cNvSpPr/>
            <p:nvPr/>
          </p:nvSpPr>
          <p:spPr>
            <a:xfrm>
              <a:off x="5874692" y="4476749"/>
              <a:ext cx="495300" cy="19050"/>
            </a:xfrm>
            <a:custGeom>
              <a:avLst/>
              <a:gdLst/>
              <a:ahLst/>
              <a:cxnLst/>
              <a:rect l="l" t="t" r="r" b="b"/>
              <a:pathLst>
                <a:path w="495300" h="19050">
                  <a:moveTo>
                    <a:pt x="488405" y="19049"/>
                  </a:moveTo>
                  <a:lnTo>
                    <a:pt x="6894" y="19049"/>
                  </a:lnTo>
                  <a:lnTo>
                    <a:pt x="4649" y="18120"/>
                  </a:lnTo>
                  <a:lnTo>
                    <a:pt x="929" y="14400"/>
                  </a:lnTo>
                  <a:lnTo>
                    <a:pt x="0" y="12155"/>
                  </a:lnTo>
                  <a:lnTo>
                    <a:pt x="0" y="9524"/>
                  </a:lnTo>
                  <a:lnTo>
                    <a:pt x="0" y="6894"/>
                  </a:lnTo>
                  <a:lnTo>
                    <a:pt x="929" y="4649"/>
                  </a:lnTo>
                  <a:lnTo>
                    <a:pt x="4649" y="929"/>
                  </a:lnTo>
                  <a:lnTo>
                    <a:pt x="6894" y="0"/>
                  </a:lnTo>
                  <a:lnTo>
                    <a:pt x="488405" y="0"/>
                  </a:lnTo>
                  <a:lnTo>
                    <a:pt x="490650" y="929"/>
                  </a:lnTo>
                  <a:lnTo>
                    <a:pt x="494369" y="4649"/>
                  </a:lnTo>
                  <a:lnTo>
                    <a:pt x="495299" y="6894"/>
                  </a:lnTo>
                  <a:lnTo>
                    <a:pt x="495299" y="12155"/>
                  </a:lnTo>
                  <a:lnTo>
                    <a:pt x="494369" y="14400"/>
                  </a:lnTo>
                  <a:lnTo>
                    <a:pt x="490650" y="18120"/>
                  </a:lnTo>
                  <a:lnTo>
                    <a:pt x="488405" y="19049"/>
                  </a:lnTo>
                  <a:close/>
                </a:path>
              </a:pathLst>
            </a:custGeom>
            <a:solidFill>
              <a:srgbClr val="BAC2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536555" y="4310062"/>
              <a:ext cx="352425" cy="352425"/>
            </a:xfrm>
            <a:custGeom>
              <a:avLst/>
              <a:gdLst/>
              <a:ahLst/>
              <a:cxnLst/>
              <a:rect l="l" t="t" r="r" b="b"/>
              <a:pathLst>
                <a:path w="352425" h="352425">
                  <a:moveTo>
                    <a:pt x="303610" y="352424"/>
                  </a:moveTo>
                  <a:lnTo>
                    <a:pt x="48814" y="352424"/>
                  </a:lnTo>
                  <a:lnTo>
                    <a:pt x="45416" y="352090"/>
                  </a:lnTo>
                  <a:lnTo>
                    <a:pt x="10710" y="332058"/>
                  </a:lnTo>
                  <a:lnTo>
                    <a:pt x="0" y="303610"/>
                  </a:lnTo>
                  <a:lnTo>
                    <a:pt x="0" y="300180"/>
                  </a:lnTo>
                  <a:lnTo>
                    <a:pt x="0" y="48814"/>
                  </a:lnTo>
                  <a:lnTo>
                    <a:pt x="17727" y="12876"/>
                  </a:lnTo>
                  <a:lnTo>
                    <a:pt x="48814" y="0"/>
                  </a:lnTo>
                  <a:lnTo>
                    <a:pt x="303610" y="0"/>
                  </a:lnTo>
                  <a:lnTo>
                    <a:pt x="339548" y="17727"/>
                  </a:lnTo>
                  <a:lnTo>
                    <a:pt x="352424" y="48814"/>
                  </a:lnTo>
                  <a:lnTo>
                    <a:pt x="352424" y="303610"/>
                  </a:lnTo>
                  <a:lnTo>
                    <a:pt x="334697" y="339548"/>
                  </a:lnTo>
                  <a:lnTo>
                    <a:pt x="307008" y="352090"/>
                  </a:lnTo>
                  <a:lnTo>
                    <a:pt x="303610" y="352424"/>
                  </a:lnTo>
                  <a:close/>
                </a:path>
              </a:pathLst>
            </a:custGeom>
            <a:solidFill>
              <a:srgbClr val="D5DB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536555" y="4310062"/>
              <a:ext cx="352425" cy="352425"/>
            </a:xfrm>
            <a:custGeom>
              <a:avLst/>
              <a:gdLst/>
              <a:ahLst/>
              <a:cxnLst/>
              <a:rect l="l" t="t" r="r" b="b"/>
              <a:pathLst>
                <a:path w="352425" h="352425">
                  <a:moveTo>
                    <a:pt x="0" y="300180"/>
                  </a:moveTo>
                  <a:lnTo>
                    <a:pt x="0" y="52244"/>
                  </a:lnTo>
                  <a:lnTo>
                    <a:pt x="0" y="48814"/>
                  </a:lnTo>
                  <a:lnTo>
                    <a:pt x="334" y="45416"/>
                  </a:lnTo>
                  <a:lnTo>
                    <a:pt x="1003" y="42052"/>
                  </a:lnTo>
                  <a:lnTo>
                    <a:pt x="1673" y="38687"/>
                  </a:lnTo>
                  <a:lnTo>
                    <a:pt x="2664" y="35420"/>
                  </a:lnTo>
                  <a:lnTo>
                    <a:pt x="3976" y="32251"/>
                  </a:lnTo>
                  <a:lnTo>
                    <a:pt x="5289" y="29082"/>
                  </a:lnTo>
                  <a:lnTo>
                    <a:pt x="32251" y="3976"/>
                  </a:lnTo>
                  <a:lnTo>
                    <a:pt x="35420" y="2664"/>
                  </a:lnTo>
                  <a:lnTo>
                    <a:pt x="38687" y="1673"/>
                  </a:lnTo>
                  <a:lnTo>
                    <a:pt x="42052" y="1003"/>
                  </a:lnTo>
                  <a:lnTo>
                    <a:pt x="45416" y="334"/>
                  </a:lnTo>
                  <a:lnTo>
                    <a:pt x="48814" y="0"/>
                  </a:lnTo>
                  <a:lnTo>
                    <a:pt x="52244" y="0"/>
                  </a:lnTo>
                  <a:lnTo>
                    <a:pt x="300180" y="0"/>
                  </a:lnTo>
                  <a:lnTo>
                    <a:pt x="303610" y="0"/>
                  </a:lnTo>
                  <a:lnTo>
                    <a:pt x="307008" y="334"/>
                  </a:lnTo>
                  <a:lnTo>
                    <a:pt x="310372" y="1003"/>
                  </a:lnTo>
                  <a:lnTo>
                    <a:pt x="313737" y="1673"/>
                  </a:lnTo>
                  <a:lnTo>
                    <a:pt x="317004" y="2664"/>
                  </a:lnTo>
                  <a:lnTo>
                    <a:pt x="320173" y="3976"/>
                  </a:lnTo>
                  <a:lnTo>
                    <a:pt x="323342" y="5289"/>
                  </a:lnTo>
                  <a:lnTo>
                    <a:pt x="326353" y="6898"/>
                  </a:lnTo>
                  <a:lnTo>
                    <a:pt x="329205" y="8804"/>
                  </a:lnTo>
                  <a:lnTo>
                    <a:pt x="332058" y="10710"/>
                  </a:lnTo>
                  <a:lnTo>
                    <a:pt x="334697" y="12876"/>
                  </a:lnTo>
                  <a:lnTo>
                    <a:pt x="337122" y="15302"/>
                  </a:lnTo>
                  <a:lnTo>
                    <a:pt x="339548" y="17727"/>
                  </a:lnTo>
                  <a:lnTo>
                    <a:pt x="341714" y="20366"/>
                  </a:lnTo>
                  <a:lnTo>
                    <a:pt x="343620" y="23219"/>
                  </a:lnTo>
                  <a:lnTo>
                    <a:pt x="345525" y="26071"/>
                  </a:lnTo>
                  <a:lnTo>
                    <a:pt x="352424" y="52244"/>
                  </a:lnTo>
                  <a:lnTo>
                    <a:pt x="352424" y="300180"/>
                  </a:lnTo>
                  <a:lnTo>
                    <a:pt x="352424" y="303610"/>
                  </a:lnTo>
                  <a:lnTo>
                    <a:pt x="352090" y="307008"/>
                  </a:lnTo>
                  <a:lnTo>
                    <a:pt x="351421" y="310372"/>
                  </a:lnTo>
                  <a:lnTo>
                    <a:pt x="350751" y="313737"/>
                  </a:lnTo>
                  <a:lnTo>
                    <a:pt x="343620" y="329205"/>
                  </a:lnTo>
                  <a:lnTo>
                    <a:pt x="341714" y="332058"/>
                  </a:lnTo>
                  <a:lnTo>
                    <a:pt x="339548" y="334697"/>
                  </a:lnTo>
                  <a:lnTo>
                    <a:pt x="337122" y="337122"/>
                  </a:lnTo>
                  <a:lnTo>
                    <a:pt x="334697" y="339548"/>
                  </a:lnTo>
                  <a:lnTo>
                    <a:pt x="332058" y="341714"/>
                  </a:lnTo>
                  <a:lnTo>
                    <a:pt x="329205" y="343620"/>
                  </a:lnTo>
                  <a:lnTo>
                    <a:pt x="326353" y="345525"/>
                  </a:lnTo>
                  <a:lnTo>
                    <a:pt x="310372" y="351421"/>
                  </a:lnTo>
                  <a:lnTo>
                    <a:pt x="307008" y="352090"/>
                  </a:lnTo>
                  <a:lnTo>
                    <a:pt x="303610" y="352424"/>
                  </a:lnTo>
                  <a:lnTo>
                    <a:pt x="300180" y="352424"/>
                  </a:lnTo>
                  <a:lnTo>
                    <a:pt x="52244" y="352424"/>
                  </a:lnTo>
                  <a:lnTo>
                    <a:pt x="23219" y="343620"/>
                  </a:lnTo>
                  <a:lnTo>
                    <a:pt x="20366" y="341714"/>
                  </a:lnTo>
                  <a:lnTo>
                    <a:pt x="17727" y="339548"/>
                  </a:lnTo>
                  <a:lnTo>
                    <a:pt x="15302" y="337122"/>
                  </a:lnTo>
                  <a:lnTo>
                    <a:pt x="12876" y="334697"/>
                  </a:lnTo>
                  <a:lnTo>
                    <a:pt x="10710" y="332058"/>
                  </a:lnTo>
                  <a:lnTo>
                    <a:pt x="8804" y="329205"/>
                  </a:lnTo>
                  <a:lnTo>
                    <a:pt x="6898" y="326353"/>
                  </a:lnTo>
                  <a:lnTo>
                    <a:pt x="5289" y="323342"/>
                  </a:lnTo>
                  <a:lnTo>
                    <a:pt x="3976" y="320173"/>
                  </a:lnTo>
                  <a:lnTo>
                    <a:pt x="2664" y="317004"/>
                  </a:lnTo>
                  <a:lnTo>
                    <a:pt x="1673" y="313737"/>
                  </a:lnTo>
                  <a:lnTo>
                    <a:pt x="1003" y="310372"/>
                  </a:lnTo>
                  <a:lnTo>
                    <a:pt x="334" y="307008"/>
                  </a:lnTo>
                  <a:lnTo>
                    <a:pt x="0" y="303610"/>
                  </a:lnTo>
                  <a:lnTo>
                    <a:pt x="0" y="300180"/>
                  </a:lnTo>
                  <a:close/>
                </a:path>
              </a:pathLst>
            </a:custGeom>
            <a:ln w="9524">
              <a:solidFill>
                <a:srgbClr val="BAC2D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5624760" y="4303315"/>
            <a:ext cx="180975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50" dirty="0">
                <a:solidFill>
                  <a:srgbClr val="3B3434"/>
                </a:solidFill>
                <a:latin typeface="Tahoma"/>
                <a:cs typeface="Tahoma"/>
              </a:rPr>
              <a:t>4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516687" y="4335462"/>
            <a:ext cx="4258945" cy="8724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3B3434"/>
                </a:solidFill>
                <a:latin typeface="Tahoma"/>
                <a:cs typeface="Tahoma"/>
              </a:rPr>
              <a:t>Modern</a:t>
            </a:r>
            <a:r>
              <a:rPr sz="1650" b="1" spc="-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25" dirty="0">
                <a:solidFill>
                  <a:srgbClr val="3B3434"/>
                </a:solidFill>
                <a:latin typeface="Tahoma"/>
                <a:cs typeface="Tahoma"/>
              </a:rPr>
              <a:t>Era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5000"/>
              </a:lnSpc>
              <a:spcBef>
                <a:spcPts val="595"/>
              </a:spcBef>
            </a:pPr>
            <a:r>
              <a:rPr sz="1250" spc="55" dirty="0">
                <a:solidFill>
                  <a:srgbClr val="3B3434"/>
                </a:solidFill>
                <a:latin typeface="Verdana"/>
                <a:cs typeface="Verdana"/>
              </a:rPr>
              <a:t>Clobal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recognition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through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legendary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maestros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and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cross-cultural</a:t>
            </a:r>
            <a:r>
              <a:rPr sz="1250" spc="26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collaborations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9182100"/>
          </a:xfrm>
          <a:custGeom>
            <a:avLst/>
            <a:gdLst/>
            <a:ahLst/>
            <a:cxnLst/>
            <a:rect l="l" t="t" r="r" b="b"/>
            <a:pathLst>
              <a:path w="11430000" h="9182100">
                <a:moveTo>
                  <a:pt x="11430000" y="0"/>
                </a:moveTo>
                <a:lnTo>
                  <a:pt x="0" y="0"/>
                </a:lnTo>
                <a:lnTo>
                  <a:pt x="0" y="9182100"/>
                </a:lnTo>
                <a:lnTo>
                  <a:pt x="11430000" y="91821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918184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4316730">
              <a:lnSpc>
                <a:spcPct val="100000"/>
              </a:lnSpc>
              <a:spcBef>
                <a:spcPts val="125"/>
              </a:spcBef>
            </a:pPr>
            <a:r>
              <a:rPr dirty="0"/>
              <a:t>The</a:t>
            </a:r>
            <a:r>
              <a:rPr spc="-150" dirty="0"/>
              <a:t> </a:t>
            </a:r>
            <a:r>
              <a:rPr spc="-10" dirty="0"/>
              <a:t>Sitar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4857750" y="1228724"/>
            <a:ext cx="6000750" cy="1628775"/>
            <a:chOff x="4857750" y="1228724"/>
            <a:chExt cx="6000750" cy="1628775"/>
          </a:xfrm>
        </p:grpSpPr>
        <p:sp>
          <p:nvSpPr>
            <p:cNvPr id="6" name="object 6"/>
            <p:cNvSpPr/>
            <p:nvPr/>
          </p:nvSpPr>
          <p:spPr>
            <a:xfrm>
              <a:off x="4862512" y="1233487"/>
              <a:ext cx="5991225" cy="1619250"/>
            </a:xfrm>
            <a:custGeom>
              <a:avLst/>
              <a:gdLst/>
              <a:ahLst/>
              <a:cxnLst/>
              <a:rect l="l" t="t" r="r" b="b"/>
              <a:pathLst>
                <a:path w="5991225" h="1619250">
                  <a:moveTo>
                    <a:pt x="5942406" y="0"/>
                  </a:moveTo>
                  <a:lnTo>
                    <a:pt x="48818" y="0"/>
                  </a:lnTo>
                  <a:lnTo>
                    <a:pt x="45415" y="330"/>
                  </a:lnTo>
                  <a:lnTo>
                    <a:pt x="10706" y="20370"/>
                  </a:lnTo>
                  <a:lnTo>
                    <a:pt x="0" y="48806"/>
                  </a:lnTo>
                  <a:lnTo>
                    <a:pt x="0" y="1567002"/>
                  </a:lnTo>
                  <a:lnTo>
                    <a:pt x="0" y="1570431"/>
                  </a:lnTo>
                  <a:lnTo>
                    <a:pt x="17729" y="1606372"/>
                  </a:lnTo>
                  <a:lnTo>
                    <a:pt x="48818" y="1619250"/>
                  </a:lnTo>
                  <a:lnTo>
                    <a:pt x="5942406" y="1619250"/>
                  </a:lnTo>
                  <a:lnTo>
                    <a:pt x="5978347" y="1601520"/>
                  </a:lnTo>
                  <a:lnTo>
                    <a:pt x="5991225" y="1570431"/>
                  </a:lnTo>
                  <a:lnTo>
                    <a:pt x="5991225" y="48806"/>
                  </a:lnTo>
                  <a:lnTo>
                    <a:pt x="5973495" y="12877"/>
                  </a:lnTo>
                  <a:lnTo>
                    <a:pt x="5945809" y="330"/>
                  </a:lnTo>
                  <a:lnTo>
                    <a:pt x="5942406" y="0"/>
                  </a:lnTo>
                  <a:close/>
                </a:path>
              </a:pathLst>
            </a:custGeom>
            <a:solidFill>
              <a:srgbClr val="D5DC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862512" y="1233487"/>
              <a:ext cx="5991225" cy="1619250"/>
            </a:xfrm>
            <a:custGeom>
              <a:avLst/>
              <a:gdLst/>
              <a:ahLst/>
              <a:cxnLst/>
              <a:rect l="l" t="t" r="r" b="b"/>
              <a:pathLst>
                <a:path w="5991225" h="1619250">
                  <a:moveTo>
                    <a:pt x="0" y="1567002"/>
                  </a:moveTo>
                  <a:lnTo>
                    <a:pt x="0" y="52247"/>
                  </a:lnTo>
                  <a:lnTo>
                    <a:pt x="0" y="48806"/>
                  </a:lnTo>
                  <a:lnTo>
                    <a:pt x="330" y="45415"/>
                  </a:lnTo>
                  <a:lnTo>
                    <a:pt x="1003" y="42049"/>
                  </a:lnTo>
                  <a:lnTo>
                    <a:pt x="1676" y="38684"/>
                  </a:lnTo>
                  <a:lnTo>
                    <a:pt x="2667" y="35420"/>
                  </a:lnTo>
                  <a:lnTo>
                    <a:pt x="3975" y="32258"/>
                  </a:lnTo>
                  <a:lnTo>
                    <a:pt x="5283" y="29083"/>
                  </a:lnTo>
                  <a:lnTo>
                    <a:pt x="15303" y="15303"/>
                  </a:lnTo>
                  <a:lnTo>
                    <a:pt x="17729" y="12877"/>
                  </a:lnTo>
                  <a:lnTo>
                    <a:pt x="42049" y="1003"/>
                  </a:lnTo>
                  <a:lnTo>
                    <a:pt x="45415" y="330"/>
                  </a:lnTo>
                  <a:lnTo>
                    <a:pt x="48818" y="0"/>
                  </a:lnTo>
                  <a:lnTo>
                    <a:pt x="52247" y="0"/>
                  </a:lnTo>
                  <a:lnTo>
                    <a:pt x="5938977" y="0"/>
                  </a:lnTo>
                  <a:lnTo>
                    <a:pt x="5942406" y="0"/>
                  </a:lnTo>
                  <a:lnTo>
                    <a:pt x="5945809" y="330"/>
                  </a:lnTo>
                  <a:lnTo>
                    <a:pt x="5949175" y="1003"/>
                  </a:lnTo>
                  <a:lnTo>
                    <a:pt x="5952540" y="1676"/>
                  </a:lnTo>
                  <a:lnTo>
                    <a:pt x="5975921" y="15303"/>
                  </a:lnTo>
                  <a:lnTo>
                    <a:pt x="5978347" y="17729"/>
                  </a:lnTo>
                  <a:lnTo>
                    <a:pt x="5991225" y="48806"/>
                  </a:lnTo>
                  <a:lnTo>
                    <a:pt x="5991225" y="52247"/>
                  </a:lnTo>
                  <a:lnTo>
                    <a:pt x="5991225" y="1567002"/>
                  </a:lnTo>
                  <a:lnTo>
                    <a:pt x="5991225" y="1570431"/>
                  </a:lnTo>
                  <a:lnTo>
                    <a:pt x="5990882" y="1573834"/>
                  </a:lnTo>
                  <a:lnTo>
                    <a:pt x="5975921" y="1603946"/>
                  </a:lnTo>
                  <a:lnTo>
                    <a:pt x="5973495" y="1606372"/>
                  </a:lnTo>
                  <a:lnTo>
                    <a:pt x="5942406" y="1619250"/>
                  </a:lnTo>
                  <a:lnTo>
                    <a:pt x="5938977" y="1619250"/>
                  </a:lnTo>
                  <a:lnTo>
                    <a:pt x="52247" y="1619250"/>
                  </a:lnTo>
                  <a:lnTo>
                    <a:pt x="48818" y="1619250"/>
                  </a:lnTo>
                  <a:lnTo>
                    <a:pt x="45415" y="1618919"/>
                  </a:lnTo>
                  <a:lnTo>
                    <a:pt x="15303" y="1603946"/>
                  </a:lnTo>
                  <a:lnTo>
                    <a:pt x="12877" y="1601520"/>
                  </a:lnTo>
                  <a:lnTo>
                    <a:pt x="3975" y="1586992"/>
                  </a:lnTo>
                  <a:lnTo>
                    <a:pt x="2667" y="1583829"/>
                  </a:lnTo>
                  <a:lnTo>
                    <a:pt x="1676" y="1580565"/>
                  </a:lnTo>
                  <a:lnTo>
                    <a:pt x="1003" y="1577200"/>
                  </a:lnTo>
                  <a:lnTo>
                    <a:pt x="330" y="1573834"/>
                  </a:lnTo>
                  <a:lnTo>
                    <a:pt x="0" y="1570431"/>
                  </a:lnTo>
                  <a:lnTo>
                    <a:pt x="0" y="1567002"/>
                  </a:lnTo>
                  <a:close/>
                </a:path>
              </a:pathLst>
            </a:custGeom>
            <a:ln w="9525">
              <a:solidFill>
                <a:srgbClr val="BAC2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29200" y="1400174"/>
              <a:ext cx="485775" cy="495300"/>
            </a:xfrm>
            <a:custGeom>
              <a:avLst/>
              <a:gdLst/>
              <a:ahLst/>
              <a:cxnLst/>
              <a:rect l="l" t="t" r="r" b="b"/>
              <a:pathLst>
                <a:path w="485775" h="495300">
                  <a:moveTo>
                    <a:pt x="250837" y="0"/>
                  </a:moveTo>
                  <a:lnTo>
                    <a:pt x="234937" y="0"/>
                  </a:lnTo>
                  <a:lnTo>
                    <a:pt x="226999" y="393"/>
                  </a:lnTo>
                  <a:lnTo>
                    <a:pt x="187706" y="6223"/>
                  </a:lnTo>
                  <a:lnTo>
                    <a:pt x="142582" y="21526"/>
                  </a:lnTo>
                  <a:lnTo>
                    <a:pt x="101333" y="45351"/>
                  </a:lnTo>
                  <a:lnTo>
                    <a:pt x="65519" y="76771"/>
                  </a:lnTo>
                  <a:lnTo>
                    <a:pt x="36512" y="114554"/>
                  </a:lnTo>
                  <a:lnTo>
                    <a:pt x="15443" y="157289"/>
                  </a:lnTo>
                  <a:lnTo>
                    <a:pt x="3111" y="203301"/>
                  </a:lnTo>
                  <a:lnTo>
                    <a:pt x="0" y="234937"/>
                  </a:lnTo>
                  <a:lnTo>
                    <a:pt x="0" y="252412"/>
                  </a:lnTo>
                  <a:lnTo>
                    <a:pt x="0" y="260362"/>
                  </a:lnTo>
                  <a:lnTo>
                    <a:pt x="6223" y="307594"/>
                  </a:lnTo>
                  <a:lnTo>
                    <a:pt x="21526" y="352704"/>
                  </a:lnTo>
                  <a:lnTo>
                    <a:pt x="45351" y="393966"/>
                  </a:lnTo>
                  <a:lnTo>
                    <a:pt x="76771" y="429780"/>
                  </a:lnTo>
                  <a:lnTo>
                    <a:pt x="114554" y="458787"/>
                  </a:lnTo>
                  <a:lnTo>
                    <a:pt x="157289" y="479856"/>
                  </a:lnTo>
                  <a:lnTo>
                    <a:pt x="203301" y="492188"/>
                  </a:lnTo>
                  <a:lnTo>
                    <a:pt x="234937" y="495300"/>
                  </a:lnTo>
                  <a:lnTo>
                    <a:pt x="250837" y="495300"/>
                  </a:lnTo>
                  <a:lnTo>
                    <a:pt x="298069" y="489077"/>
                  </a:lnTo>
                  <a:lnTo>
                    <a:pt x="343192" y="473760"/>
                  </a:lnTo>
                  <a:lnTo>
                    <a:pt x="384441" y="449948"/>
                  </a:lnTo>
                  <a:lnTo>
                    <a:pt x="420255" y="418541"/>
                  </a:lnTo>
                  <a:lnTo>
                    <a:pt x="449262" y="380733"/>
                  </a:lnTo>
                  <a:lnTo>
                    <a:pt x="470331" y="338010"/>
                  </a:lnTo>
                  <a:lnTo>
                    <a:pt x="482663" y="291998"/>
                  </a:lnTo>
                  <a:lnTo>
                    <a:pt x="485775" y="260362"/>
                  </a:lnTo>
                  <a:lnTo>
                    <a:pt x="485775" y="234937"/>
                  </a:lnTo>
                  <a:lnTo>
                    <a:pt x="479552" y="187693"/>
                  </a:lnTo>
                  <a:lnTo>
                    <a:pt x="464235" y="142582"/>
                  </a:lnTo>
                  <a:lnTo>
                    <a:pt x="440423" y="101333"/>
                  </a:lnTo>
                  <a:lnTo>
                    <a:pt x="409003" y="65519"/>
                  </a:lnTo>
                  <a:lnTo>
                    <a:pt x="371208" y="36512"/>
                  </a:lnTo>
                  <a:lnTo>
                    <a:pt x="328485" y="15443"/>
                  </a:lnTo>
                  <a:lnTo>
                    <a:pt x="282473" y="3111"/>
                  </a:lnTo>
                  <a:lnTo>
                    <a:pt x="258775" y="393"/>
                  </a:lnTo>
                  <a:lnTo>
                    <a:pt x="250837" y="0"/>
                  </a:lnTo>
                  <a:close/>
                </a:path>
              </a:pathLst>
            </a:custGeom>
            <a:solidFill>
              <a:srgbClr val="1A2D7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82381" y="1538091"/>
              <a:ext cx="180097" cy="229652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5015903" y="2039937"/>
            <a:ext cx="5626735" cy="6057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Northern</a:t>
            </a:r>
            <a:r>
              <a:rPr sz="1650" b="1" spc="26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Heritage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45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Developed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North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India,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influenced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by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Persian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Indian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traditions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857750" y="3019424"/>
            <a:ext cx="6000750" cy="1876425"/>
            <a:chOff x="4857750" y="3019424"/>
            <a:chExt cx="6000750" cy="1876425"/>
          </a:xfrm>
        </p:grpSpPr>
        <p:sp>
          <p:nvSpPr>
            <p:cNvPr id="12" name="object 12"/>
            <p:cNvSpPr/>
            <p:nvPr/>
          </p:nvSpPr>
          <p:spPr>
            <a:xfrm>
              <a:off x="4862512" y="3024187"/>
              <a:ext cx="5991225" cy="1866900"/>
            </a:xfrm>
            <a:custGeom>
              <a:avLst/>
              <a:gdLst/>
              <a:ahLst/>
              <a:cxnLst/>
              <a:rect l="l" t="t" r="r" b="b"/>
              <a:pathLst>
                <a:path w="5991225" h="1866900">
                  <a:moveTo>
                    <a:pt x="5942406" y="0"/>
                  </a:moveTo>
                  <a:lnTo>
                    <a:pt x="48818" y="0"/>
                  </a:lnTo>
                  <a:lnTo>
                    <a:pt x="45415" y="330"/>
                  </a:lnTo>
                  <a:lnTo>
                    <a:pt x="10706" y="20370"/>
                  </a:lnTo>
                  <a:lnTo>
                    <a:pt x="0" y="48806"/>
                  </a:lnTo>
                  <a:lnTo>
                    <a:pt x="0" y="1814652"/>
                  </a:lnTo>
                  <a:lnTo>
                    <a:pt x="0" y="1818081"/>
                  </a:lnTo>
                  <a:lnTo>
                    <a:pt x="17729" y="1854022"/>
                  </a:lnTo>
                  <a:lnTo>
                    <a:pt x="48818" y="1866900"/>
                  </a:lnTo>
                  <a:lnTo>
                    <a:pt x="5942406" y="1866900"/>
                  </a:lnTo>
                  <a:lnTo>
                    <a:pt x="5978347" y="1849170"/>
                  </a:lnTo>
                  <a:lnTo>
                    <a:pt x="5991225" y="1818081"/>
                  </a:lnTo>
                  <a:lnTo>
                    <a:pt x="5991225" y="48806"/>
                  </a:lnTo>
                  <a:lnTo>
                    <a:pt x="5973495" y="12877"/>
                  </a:lnTo>
                  <a:lnTo>
                    <a:pt x="5945809" y="330"/>
                  </a:lnTo>
                  <a:lnTo>
                    <a:pt x="5942406" y="0"/>
                  </a:lnTo>
                  <a:close/>
                </a:path>
              </a:pathLst>
            </a:custGeom>
            <a:solidFill>
              <a:srgbClr val="D5DC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62512" y="3024187"/>
              <a:ext cx="5991225" cy="1866900"/>
            </a:xfrm>
            <a:custGeom>
              <a:avLst/>
              <a:gdLst/>
              <a:ahLst/>
              <a:cxnLst/>
              <a:rect l="l" t="t" r="r" b="b"/>
              <a:pathLst>
                <a:path w="5991225" h="1866900">
                  <a:moveTo>
                    <a:pt x="0" y="1814652"/>
                  </a:moveTo>
                  <a:lnTo>
                    <a:pt x="0" y="52247"/>
                  </a:lnTo>
                  <a:lnTo>
                    <a:pt x="0" y="48806"/>
                  </a:lnTo>
                  <a:lnTo>
                    <a:pt x="330" y="45415"/>
                  </a:lnTo>
                  <a:lnTo>
                    <a:pt x="1003" y="42049"/>
                  </a:lnTo>
                  <a:lnTo>
                    <a:pt x="1676" y="38684"/>
                  </a:lnTo>
                  <a:lnTo>
                    <a:pt x="2667" y="35420"/>
                  </a:lnTo>
                  <a:lnTo>
                    <a:pt x="3975" y="32258"/>
                  </a:lnTo>
                  <a:lnTo>
                    <a:pt x="5283" y="29083"/>
                  </a:lnTo>
                  <a:lnTo>
                    <a:pt x="15303" y="15303"/>
                  </a:lnTo>
                  <a:lnTo>
                    <a:pt x="17729" y="12877"/>
                  </a:lnTo>
                  <a:lnTo>
                    <a:pt x="48818" y="0"/>
                  </a:lnTo>
                  <a:lnTo>
                    <a:pt x="52247" y="0"/>
                  </a:lnTo>
                  <a:lnTo>
                    <a:pt x="5938977" y="0"/>
                  </a:lnTo>
                  <a:lnTo>
                    <a:pt x="5942406" y="0"/>
                  </a:lnTo>
                  <a:lnTo>
                    <a:pt x="5945809" y="330"/>
                  </a:lnTo>
                  <a:lnTo>
                    <a:pt x="5949175" y="1003"/>
                  </a:lnTo>
                  <a:lnTo>
                    <a:pt x="5952540" y="1676"/>
                  </a:lnTo>
                  <a:lnTo>
                    <a:pt x="5975921" y="15303"/>
                  </a:lnTo>
                  <a:lnTo>
                    <a:pt x="5978347" y="17729"/>
                  </a:lnTo>
                  <a:lnTo>
                    <a:pt x="5991225" y="48806"/>
                  </a:lnTo>
                  <a:lnTo>
                    <a:pt x="5991225" y="52247"/>
                  </a:lnTo>
                  <a:lnTo>
                    <a:pt x="5991225" y="1814652"/>
                  </a:lnTo>
                  <a:lnTo>
                    <a:pt x="5991225" y="1818081"/>
                  </a:lnTo>
                  <a:lnTo>
                    <a:pt x="5990882" y="1821484"/>
                  </a:lnTo>
                  <a:lnTo>
                    <a:pt x="5975921" y="1851596"/>
                  </a:lnTo>
                  <a:lnTo>
                    <a:pt x="5973495" y="1854022"/>
                  </a:lnTo>
                  <a:lnTo>
                    <a:pt x="5970854" y="1856193"/>
                  </a:lnTo>
                  <a:lnTo>
                    <a:pt x="5967996" y="1858098"/>
                  </a:lnTo>
                  <a:lnTo>
                    <a:pt x="5965151" y="1860003"/>
                  </a:lnTo>
                  <a:lnTo>
                    <a:pt x="5949175" y="1865896"/>
                  </a:lnTo>
                  <a:lnTo>
                    <a:pt x="5945809" y="1866569"/>
                  </a:lnTo>
                  <a:lnTo>
                    <a:pt x="5942406" y="1866900"/>
                  </a:lnTo>
                  <a:lnTo>
                    <a:pt x="5938977" y="1866900"/>
                  </a:lnTo>
                  <a:lnTo>
                    <a:pt x="52247" y="1866900"/>
                  </a:lnTo>
                  <a:lnTo>
                    <a:pt x="48818" y="1866900"/>
                  </a:lnTo>
                  <a:lnTo>
                    <a:pt x="45415" y="1866569"/>
                  </a:lnTo>
                  <a:lnTo>
                    <a:pt x="15303" y="1851596"/>
                  </a:lnTo>
                  <a:lnTo>
                    <a:pt x="12877" y="1849170"/>
                  </a:lnTo>
                  <a:lnTo>
                    <a:pt x="0" y="1818081"/>
                  </a:lnTo>
                  <a:lnTo>
                    <a:pt x="0" y="1814652"/>
                  </a:lnTo>
                  <a:close/>
                </a:path>
              </a:pathLst>
            </a:custGeom>
            <a:ln w="9525">
              <a:solidFill>
                <a:srgbClr val="BAC2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029200" y="3190874"/>
              <a:ext cx="485775" cy="485775"/>
            </a:xfrm>
            <a:custGeom>
              <a:avLst/>
              <a:gdLst/>
              <a:ahLst/>
              <a:cxnLst/>
              <a:rect l="l" t="t" r="r" b="b"/>
              <a:pathLst>
                <a:path w="485775" h="485775">
                  <a:moveTo>
                    <a:pt x="250837" y="0"/>
                  </a:moveTo>
                  <a:lnTo>
                    <a:pt x="234937" y="0"/>
                  </a:lnTo>
                  <a:lnTo>
                    <a:pt x="226999" y="393"/>
                  </a:lnTo>
                  <a:lnTo>
                    <a:pt x="187706" y="6223"/>
                  </a:lnTo>
                  <a:lnTo>
                    <a:pt x="142582" y="21526"/>
                  </a:lnTo>
                  <a:lnTo>
                    <a:pt x="101333" y="45351"/>
                  </a:lnTo>
                  <a:lnTo>
                    <a:pt x="65519" y="76758"/>
                  </a:lnTo>
                  <a:lnTo>
                    <a:pt x="36512" y="114554"/>
                  </a:lnTo>
                  <a:lnTo>
                    <a:pt x="15443" y="157289"/>
                  </a:lnTo>
                  <a:lnTo>
                    <a:pt x="3111" y="203301"/>
                  </a:lnTo>
                  <a:lnTo>
                    <a:pt x="0" y="234937"/>
                  </a:lnTo>
                  <a:lnTo>
                    <a:pt x="0" y="250837"/>
                  </a:lnTo>
                  <a:lnTo>
                    <a:pt x="6223" y="298069"/>
                  </a:lnTo>
                  <a:lnTo>
                    <a:pt x="21526" y="343179"/>
                  </a:lnTo>
                  <a:lnTo>
                    <a:pt x="45351" y="384441"/>
                  </a:lnTo>
                  <a:lnTo>
                    <a:pt x="76771" y="420255"/>
                  </a:lnTo>
                  <a:lnTo>
                    <a:pt x="114554" y="449262"/>
                  </a:lnTo>
                  <a:lnTo>
                    <a:pt x="157289" y="470331"/>
                  </a:lnTo>
                  <a:lnTo>
                    <a:pt x="203301" y="482663"/>
                  </a:lnTo>
                  <a:lnTo>
                    <a:pt x="234937" y="485775"/>
                  </a:lnTo>
                  <a:lnTo>
                    <a:pt x="250837" y="485775"/>
                  </a:lnTo>
                  <a:lnTo>
                    <a:pt x="298069" y="479552"/>
                  </a:lnTo>
                  <a:lnTo>
                    <a:pt x="343192" y="464235"/>
                  </a:lnTo>
                  <a:lnTo>
                    <a:pt x="384441" y="440423"/>
                  </a:lnTo>
                  <a:lnTo>
                    <a:pt x="420255" y="409016"/>
                  </a:lnTo>
                  <a:lnTo>
                    <a:pt x="449262" y="371208"/>
                  </a:lnTo>
                  <a:lnTo>
                    <a:pt x="470331" y="328485"/>
                  </a:lnTo>
                  <a:lnTo>
                    <a:pt x="482663" y="282460"/>
                  </a:lnTo>
                  <a:lnTo>
                    <a:pt x="485775" y="250837"/>
                  </a:lnTo>
                  <a:lnTo>
                    <a:pt x="485775" y="242887"/>
                  </a:lnTo>
                  <a:lnTo>
                    <a:pt x="485775" y="234937"/>
                  </a:lnTo>
                  <a:lnTo>
                    <a:pt x="479552" y="187693"/>
                  </a:lnTo>
                  <a:lnTo>
                    <a:pt x="464235" y="142582"/>
                  </a:lnTo>
                  <a:lnTo>
                    <a:pt x="440423" y="101333"/>
                  </a:lnTo>
                  <a:lnTo>
                    <a:pt x="409003" y="65519"/>
                  </a:lnTo>
                  <a:lnTo>
                    <a:pt x="371208" y="36512"/>
                  </a:lnTo>
                  <a:lnTo>
                    <a:pt x="328485" y="15443"/>
                  </a:lnTo>
                  <a:lnTo>
                    <a:pt x="282473" y="3111"/>
                  </a:lnTo>
                  <a:lnTo>
                    <a:pt x="258775" y="393"/>
                  </a:lnTo>
                  <a:lnTo>
                    <a:pt x="250837" y="0"/>
                  </a:lnTo>
                  <a:close/>
                </a:path>
              </a:pathLst>
            </a:custGeom>
            <a:solidFill>
              <a:srgbClr val="1A2D7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157681" y="3325909"/>
              <a:ext cx="229560" cy="216606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5015687" y="3821112"/>
            <a:ext cx="4999355" cy="8724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35" dirty="0">
                <a:solidFill>
                  <a:srgbClr val="3B3434"/>
                </a:solidFill>
                <a:latin typeface="Tahoma"/>
                <a:cs typeface="Tahoma"/>
              </a:rPr>
              <a:t>18–20</a:t>
            </a: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Strings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5000"/>
              </a:lnSpc>
              <a:spcBef>
                <a:spcPts val="595"/>
              </a:spcBef>
            </a:pP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Playing</a:t>
            </a:r>
            <a:r>
              <a:rPr sz="1250" spc="-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strings,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sympathetic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strings,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drone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strings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create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resonant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35" dirty="0">
                <a:solidFill>
                  <a:srgbClr val="3B3434"/>
                </a:solidFill>
                <a:latin typeface="Verdana"/>
                <a:cs typeface="Verdana"/>
              </a:rPr>
              <a:t>depth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4857750" y="5057775"/>
            <a:ext cx="6000750" cy="1628775"/>
            <a:chOff x="4857750" y="5057775"/>
            <a:chExt cx="6000750" cy="1628775"/>
          </a:xfrm>
        </p:grpSpPr>
        <p:sp>
          <p:nvSpPr>
            <p:cNvPr id="18" name="object 18"/>
            <p:cNvSpPr/>
            <p:nvPr/>
          </p:nvSpPr>
          <p:spPr>
            <a:xfrm>
              <a:off x="4862512" y="5062537"/>
              <a:ext cx="5991225" cy="1619250"/>
            </a:xfrm>
            <a:custGeom>
              <a:avLst/>
              <a:gdLst/>
              <a:ahLst/>
              <a:cxnLst/>
              <a:rect l="l" t="t" r="r" b="b"/>
              <a:pathLst>
                <a:path w="5991225" h="1619250">
                  <a:moveTo>
                    <a:pt x="5942406" y="0"/>
                  </a:moveTo>
                  <a:lnTo>
                    <a:pt x="48818" y="0"/>
                  </a:lnTo>
                  <a:lnTo>
                    <a:pt x="45415" y="330"/>
                  </a:lnTo>
                  <a:lnTo>
                    <a:pt x="10706" y="20370"/>
                  </a:lnTo>
                  <a:lnTo>
                    <a:pt x="0" y="48806"/>
                  </a:lnTo>
                  <a:lnTo>
                    <a:pt x="0" y="1567002"/>
                  </a:lnTo>
                  <a:lnTo>
                    <a:pt x="0" y="1570431"/>
                  </a:lnTo>
                  <a:lnTo>
                    <a:pt x="17729" y="1606372"/>
                  </a:lnTo>
                  <a:lnTo>
                    <a:pt x="48818" y="1619250"/>
                  </a:lnTo>
                  <a:lnTo>
                    <a:pt x="5942406" y="1619250"/>
                  </a:lnTo>
                  <a:lnTo>
                    <a:pt x="5978347" y="1601520"/>
                  </a:lnTo>
                  <a:lnTo>
                    <a:pt x="5991225" y="1570431"/>
                  </a:lnTo>
                  <a:lnTo>
                    <a:pt x="5991225" y="48806"/>
                  </a:lnTo>
                  <a:lnTo>
                    <a:pt x="5973495" y="12877"/>
                  </a:lnTo>
                  <a:lnTo>
                    <a:pt x="5945809" y="330"/>
                  </a:lnTo>
                  <a:lnTo>
                    <a:pt x="5942406" y="0"/>
                  </a:lnTo>
                  <a:close/>
                </a:path>
              </a:pathLst>
            </a:custGeom>
            <a:solidFill>
              <a:srgbClr val="D5DC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862512" y="5062537"/>
              <a:ext cx="5991225" cy="1619250"/>
            </a:xfrm>
            <a:custGeom>
              <a:avLst/>
              <a:gdLst/>
              <a:ahLst/>
              <a:cxnLst/>
              <a:rect l="l" t="t" r="r" b="b"/>
              <a:pathLst>
                <a:path w="5991225" h="1619250">
                  <a:moveTo>
                    <a:pt x="0" y="1567002"/>
                  </a:moveTo>
                  <a:lnTo>
                    <a:pt x="0" y="52247"/>
                  </a:lnTo>
                  <a:lnTo>
                    <a:pt x="0" y="48806"/>
                  </a:lnTo>
                  <a:lnTo>
                    <a:pt x="330" y="45415"/>
                  </a:lnTo>
                  <a:lnTo>
                    <a:pt x="1003" y="42049"/>
                  </a:lnTo>
                  <a:lnTo>
                    <a:pt x="1676" y="38684"/>
                  </a:lnTo>
                  <a:lnTo>
                    <a:pt x="2667" y="35420"/>
                  </a:lnTo>
                  <a:lnTo>
                    <a:pt x="3975" y="32258"/>
                  </a:lnTo>
                  <a:lnTo>
                    <a:pt x="5283" y="29083"/>
                  </a:lnTo>
                  <a:lnTo>
                    <a:pt x="35420" y="2667"/>
                  </a:lnTo>
                  <a:lnTo>
                    <a:pt x="48818" y="0"/>
                  </a:lnTo>
                  <a:lnTo>
                    <a:pt x="52247" y="0"/>
                  </a:lnTo>
                  <a:lnTo>
                    <a:pt x="5938977" y="0"/>
                  </a:lnTo>
                  <a:lnTo>
                    <a:pt x="5942406" y="0"/>
                  </a:lnTo>
                  <a:lnTo>
                    <a:pt x="5945809" y="330"/>
                  </a:lnTo>
                  <a:lnTo>
                    <a:pt x="5949175" y="1003"/>
                  </a:lnTo>
                  <a:lnTo>
                    <a:pt x="5952540" y="1676"/>
                  </a:lnTo>
                  <a:lnTo>
                    <a:pt x="5975921" y="15303"/>
                  </a:lnTo>
                  <a:lnTo>
                    <a:pt x="5978347" y="17729"/>
                  </a:lnTo>
                  <a:lnTo>
                    <a:pt x="5991225" y="48806"/>
                  </a:lnTo>
                  <a:lnTo>
                    <a:pt x="5991225" y="52247"/>
                  </a:lnTo>
                  <a:lnTo>
                    <a:pt x="5991225" y="1567002"/>
                  </a:lnTo>
                  <a:lnTo>
                    <a:pt x="5991225" y="1570431"/>
                  </a:lnTo>
                  <a:lnTo>
                    <a:pt x="5990882" y="1573834"/>
                  </a:lnTo>
                  <a:lnTo>
                    <a:pt x="5975921" y="1603946"/>
                  </a:lnTo>
                  <a:lnTo>
                    <a:pt x="5973495" y="1606372"/>
                  </a:lnTo>
                  <a:lnTo>
                    <a:pt x="5949175" y="1618246"/>
                  </a:lnTo>
                  <a:lnTo>
                    <a:pt x="5945809" y="1618919"/>
                  </a:lnTo>
                  <a:lnTo>
                    <a:pt x="5942406" y="1619250"/>
                  </a:lnTo>
                  <a:lnTo>
                    <a:pt x="5938977" y="1619250"/>
                  </a:lnTo>
                  <a:lnTo>
                    <a:pt x="52247" y="1619250"/>
                  </a:lnTo>
                  <a:lnTo>
                    <a:pt x="48818" y="1619250"/>
                  </a:lnTo>
                  <a:lnTo>
                    <a:pt x="45415" y="1618919"/>
                  </a:lnTo>
                  <a:lnTo>
                    <a:pt x="15303" y="1603946"/>
                  </a:lnTo>
                  <a:lnTo>
                    <a:pt x="12877" y="1601520"/>
                  </a:lnTo>
                  <a:lnTo>
                    <a:pt x="3975" y="1586992"/>
                  </a:lnTo>
                  <a:lnTo>
                    <a:pt x="2667" y="1583829"/>
                  </a:lnTo>
                  <a:lnTo>
                    <a:pt x="1676" y="1580565"/>
                  </a:lnTo>
                  <a:lnTo>
                    <a:pt x="1003" y="1577200"/>
                  </a:lnTo>
                  <a:lnTo>
                    <a:pt x="330" y="1573834"/>
                  </a:lnTo>
                  <a:lnTo>
                    <a:pt x="0" y="1570431"/>
                  </a:lnTo>
                  <a:lnTo>
                    <a:pt x="0" y="1567002"/>
                  </a:lnTo>
                  <a:close/>
                </a:path>
              </a:pathLst>
            </a:custGeom>
            <a:ln w="9525">
              <a:solidFill>
                <a:srgbClr val="BAC2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029200" y="5238750"/>
              <a:ext cx="485775" cy="485775"/>
            </a:xfrm>
            <a:custGeom>
              <a:avLst/>
              <a:gdLst/>
              <a:ahLst/>
              <a:cxnLst/>
              <a:rect l="l" t="t" r="r" b="b"/>
              <a:pathLst>
                <a:path w="485775" h="485775">
                  <a:moveTo>
                    <a:pt x="250837" y="0"/>
                  </a:moveTo>
                  <a:lnTo>
                    <a:pt x="234937" y="0"/>
                  </a:lnTo>
                  <a:lnTo>
                    <a:pt x="226999" y="393"/>
                  </a:lnTo>
                  <a:lnTo>
                    <a:pt x="187706" y="6223"/>
                  </a:lnTo>
                  <a:lnTo>
                    <a:pt x="142582" y="21526"/>
                  </a:lnTo>
                  <a:lnTo>
                    <a:pt x="101333" y="45351"/>
                  </a:lnTo>
                  <a:lnTo>
                    <a:pt x="65519" y="76771"/>
                  </a:lnTo>
                  <a:lnTo>
                    <a:pt x="36512" y="114554"/>
                  </a:lnTo>
                  <a:lnTo>
                    <a:pt x="15443" y="157289"/>
                  </a:lnTo>
                  <a:lnTo>
                    <a:pt x="3111" y="203301"/>
                  </a:lnTo>
                  <a:lnTo>
                    <a:pt x="0" y="234937"/>
                  </a:lnTo>
                  <a:lnTo>
                    <a:pt x="0" y="250837"/>
                  </a:lnTo>
                  <a:lnTo>
                    <a:pt x="6223" y="298069"/>
                  </a:lnTo>
                  <a:lnTo>
                    <a:pt x="21526" y="343179"/>
                  </a:lnTo>
                  <a:lnTo>
                    <a:pt x="45351" y="384441"/>
                  </a:lnTo>
                  <a:lnTo>
                    <a:pt x="76771" y="420255"/>
                  </a:lnTo>
                  <a:lnTo>
                    <a:pt x="114554" y="449262"/>
                  </a:lnTo>
                  <a:lnTo>
                    <a:pt x="157289" y="470331"/>
                  </a:lnTo>
                  <a:lnTo>
                    <a:pt x="203301" y="482663"/>
                  </a:lnTo>
                  <a:lnTo>
                    <a:pt x="234937" y="485775"/>
                  </a:lnTo>
                  <a:lnTo>
                    <a:pt x="250837" y="485775"/>
                  </a:lnTo>
                  <a:lnTo>
                    <a:pt x="298069" y="479552"/>
                  </a:lnTo>
                  <a:lnTo>
                    <a:pt x="343192" y="464235"/>
                  </a:lnTo>
                  <a:lnTo>
                    <a:pt x="384441" y="440423"/>
                  </a:lnTo>
                  <a:lnTo>
                    <a:pt x="420255" y="409016"/>
                  </a:lnTo>
                  <a:lnTo>
                    <a:pt x="449262" y="371208"/>
                  </a:lnTo>
                  <a:lnTo>
                    <a:pt x="470331" y="328485"/>
                  </a:lnTo>
                  <a:lnTo>
                    <a:pt x="482663" y="282473"/>
                  </a:lnTo>
                  <a:lnTo>
                    <a:pt x="485775" y="250837"/>
                  </a:lnTo>
                  <a:lnTo>
                    <a:pt x="485775" y="242887"/>
                  </a:lnTo>
                  <a:lnTo>
                    <a:pt x="485775" y="234937"/>
                  </a:lnTo>
                  <a:lnTo>
                    <a:pt x="479552" y="187693"/>
                  </a:lnTo>
                  <a:lnTo>
                    <a:pt x="464235" y="142582"/>
                  </a:lnTo>
                  <a:lnTo>
                    <a:pt x="440423" y="101333"/>
                  </a:lnTo>
                  <a:lnTo>
                    <a:pt x="409003" y="65519"/>
                  </a:lnTo>
                  <a:lnTo>
                    <a:pt x="371208" y="36512"/>
                  </a:lnTo>
                  <a:lnTo>
                    <a:pt x="328485" y="15443"/>
                  </a:lnTo>
                  <a:lnTo>
                    <a:pt x="282473" y="3111"/>
                  </a:lnTo>
                  <a:lnTo>
                    <a:pt x="258775" y="393"/>
                  </a:lnTo>
                  <a:lnTo>
                    <a:pt x="250837" y="0"/>
                  </a:lnTo>
                  <a:close/>
                </a:path>
              </a:pathLst>
            </a:custGeom>
            <a:solidFill>
              <a:srgbClr val="1A2D7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12063" y="5367231"/>
              <a:ext cx="120708" cy="22956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5015903" y="5868987"/>
            <a:ext cx="5234940" cy="6057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Movable</a:t>
            </a:r>
            <a:r>
              <a:rPr sz="1650" b="1" spc="21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Frets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45"/>
              </a:spcBef>
            </a:pP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Allows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precise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tuning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adjustments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for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different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ragas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scales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4857750" y="6848475"/>
            <a:ext cx="6000750" cy="1885950"/>
            <a:chOff x="4857750" y="6848475"/>
            <a:chExt cx="6000750" cy="1885950"/>
          </a:xfrm>
        </p:grpSpPr>
        <p:sp>
          <p:nvSpPr>
            <p:cNvPr id="24" name="object 24"/>
            <p:cNvSpPr/>
            <p:nvPr/>
          </p:nvSpPr>
          <p:spPr>
            <a:xfrm>
              <a:off x="4862512" y="6853237"/>
              <a:ext cx="5991225" cy="1876425"/>
            </a:xfrm>
            <a:custGeom>
              <a:avLst/>
              <a:gdLst/>
              <a:ahLst/>
              <a:cxnLst/>
              <a:rect l="l" t="t" r="r" b="b"/>
              <a:pathLst>
                <a:path w="5991225" h="1876425">
                  <a:moveTo>
                    <a:pt x="5942406" y="0"/>
                  </a:moveTo>
                  <a:lnTo>
                    <a:pt x="48818" y="0"/>
                  </a:lnTo>
                  <a:lnTo>
                    <a:pt x="45415" y="330"/>
                  </a:lnTo>
                  <a:lnTo>
                    <a:pt x="10706" y="20370"/>
                  </a:lnTo>
                  <a:lnTo>
                    <a:pt x="0" y="48806"/>
                  </a:lnTo>
                  <a:lnTo>
                    <a:pt x="0" y="1824177"/>
                  </a:lnTo>
                  <a:lnTo>
                    <a:pt x="0" y="1827610"/>
                  </a:lnTo>
                  <a:lnTo>
                    <a:pt x="17729" y="1863547"/>
                  </a:lnTo>
                  <a:lnTo>
                    <a:pt x="48818" y="1876421"/>
                  </a:lnTo>
                  <a:lnTo>
                    <a:pt x="5942406" y="1876421"/>
                  </a:lnTo>
                  <a:lnTo>
                    <a:pt x="5978347" y="1858695"/>
                  </a:lnTo>
                  <a:lnTo>
                    <a:pt x="5991225" y="1827610"/>
                  </a:lnTo>
                  <a:lnTo>
                    <a:pt x="5991225" y="48806"/>
                  </a:lnTo>
                  <a:lnTo>
                    <a:pt x="5973495" y="12877"/>
                  </a:lnTo>
                  <a:lnTo>
                    <a:pt x="5945809" y="330"/>
                  </a:lnTo>
                  <a:lnTo>
                    <a:pt x="5942406" y="0"/>
                  </a:lnTo>
                  <a:close/>
                </a:path>
              </a:pathLst>
            </a:custGeom>
            <a:solidFill>
              <a:srgbClr val="D5DC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862512" y="6853237"/>
              <a:ext cx="5991225" cy="1876425"/>
            </a:xfrm>
            <a:custGeom>
              <a:avLst/>
              <a:gdLst/>
              <a:ahLst/>
              <a:cxnLst/>
              <a:rect l="l" t="t" r="r" b="b"/>
              <a:pathLst>
                <a:path w="5991225" h="1876425">
                  <a:moveTo>
                    <a:pt x="0" y="1824177"/>
                  </a:moveTo>
                  <a:lnTo>
                    <a:pt x="0" y="52247"/>
                  </a:lnTo>
                  <a:lnTo>
                    <a:pt x="0" y="48806"/>
                  </a:lnTo>
                  <a:lnTo>
                    <a:pt x="330" y="45415"/>
                  </a:lnTo>
                  <a:lnTo>
                    <a:pt x="15303" y="15303"/>
                  </a:lnTo>
                  <a:lnTo>
                    <a:pt x="17729" y="12877"/>
                  </a:lnTo>
                  <a:lnTo>
                    <a:pt x="48818" y="0"/>
                  </a:lnTo>
                  <a:lnTo>
                    <a:pt x="52247" y="0"/>
                  </a:lnTo>
                  <a:lnTo>
                    <a:pt x="5938977" y="0"/>
                  </a:lnTo>
                  <a:lnTo>
                    <a:pt x="5942406" y="0"/>
                  </a:lnTo>
                  <a:lnTo>
                    <a:pt x="5945809" y="330"/>
                  </a:lnTo>
                  <a:lnTo>
                    <a:pt x="5949175" y="1003"/>
                  </a:lnTo>
                  <a:lnTo>
                    <a:pt x="5952540" y="1676"/>
                  </a:lnTo>
                  <a:lnTo>
                    <a:pt x="5975921" y="15303"/>
                  </a:lnTo>
                  <a:lnTo>
                    <a:pt x="5978347" y="17729"/>
                  </a:lnTo>
                  <a:lnTo>
                    <a:pt x="5991225" y="48806"/>
                  </a:lnTo>
                  <a:lnTo>
                    <a:pt x="5991225" y="52247"/>
                  </a:lnTo>
                  <a:lnTo>
                    <a:pt x="5991225" y="1824177"/>
                  </a:lnTo>
                  <a:lnTo>
                    <a:pt x="5991225" y="1827610"/>
                  </a:lnTo>
                  <a:lnTo>
                    <a:pt x="5990882" y="1831008"/>
                  </a:lnTo>
                  <a:lnTo>
                    <a:pt x="5982423" y="1853204"/>
                  </a:lnTo>
                  <a:lnTo>
                    <a:pt x="5980518" y="1856056"/>
                  </a:lnTo>
                  <a:lnTo>
                    <a:pt x="5978347" y="1858695"/>
                  </a:lnTo>
                  <a:lnTo>
                    <a:pt x="5975921" y="1861121"/>
                  </a:lnTo>
                  <a:lnTo>
                    <a:pt x="5973495" y="1863547"/>
                  </a:lnTo>
                  <a:lnTo>
                    <a:pt x="5970854" y="1865710"/>
                  </a:lnTo>
                  <a:lnTo>
                    <a:pt x="5967996" y="1867615"/>
                  </a:lnTo>
                  <a:lnTo>
                    <a:pt x="5965151" y="1869525"/>
                  </a:lnTo>
                  <a:lnTo>
                    <a:pt x="5938977" y="1876426"/>
                  </a:lnTo>
                  <a:lnTo>
                    <a:pt x="52247" y="1876426"/>
                  </a:lnTo>
                  <a:lnTo>
                    <a:pt x="15303" y="1861121"/>
                  </a:lnTo>
                  <a:lnTo>
                    <a:pt x="12877" y="1858695"/>
                  </a:lnTo>
                  <a:lnTo>
                    <a:pt x="10706" y="1856056"/>
                  </a:lnTo>
                  <a:lnTo>
                    <a:pt x="8801" y="1853204"/>
                  </a:lnTo>
                  <a:lnTo>
                    <a:pt x="6896" y="1850351"/>
                  </a:lnTo>
                  <a:lnTo>
                    <a:pt x="5283" y="1847339"/>
                  </a:lnTo>
                  <a:lnTo>
                    <a:pt x="3975" y="1844169"/>
                  </a:lnTo>
                  <a:lnTo>
                    <a:pt x="2667" y="1841004"/>
                  </a:lnTo>
                  <a:lnTo>
                    <a:pt x="1676" y="1837735"/>
                  </a:lnTo>
                  <a:lnTo>
                    <a:pt x="1003" y="1834371"/>
                  </a:lnTo>
                  <a:lnTo>
                    <a:pt x="330" y="1831008"/>
                  </a:lnTo>
                  <a:lnTo>
                    <a:pt x="0" y="1827610"/>
                  </a:lnTo>
                  <a:lnTo>
                    <a:pt x="0" y="1824177"/>
                  </a:lnTo>
                  <a:close/>
                </a:path>
              </a:pathLst>
            </a:custGeom>
            <a:ln w="9525">
              <a:solidFill>
                <a:srgbClr val="BAC2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029200" y="7019925"/>
              <a:ext cx="485775" cy="485775"/>
            </a:xfrm>
            <a:custGeom>
              <a:avLst/>
              <a:gdLst/>
              <a:ahLst/>
              <a:cxnLst/>
              <a:rect l="l" t="t" r="r" b="b"/>
              <a:pathLst>
                <a:path w="485775" h="485775">
                  <a:moveTo>
                    <a:pt x="250837" y="0"/>
                  </a:moveTo>
                  <a:lnTo>
                    <a:pt x="234937" y="0"/>
                  </a:lnTo>
                  <a:lnTo>
                    <a:pt x="226999" y="393"/>
                  </a:lnTo>
                  <a:lnTo>
                    <a:pt x="187706" y="6223"/>
                  </a:lnTo>
                  <a:lnTo>
                    <a:pt x="142582" y="21526"/>
                  </a:lnTo>
                  <a:lnTo>
                    <a:pt x="101333" y="45351"/>
                  </a:lnTo>
                  <a:lnTo>
                    <a:pt x="65519" y="76771"/>
                  </a:lnTo>
                  <a:lnTo>
                    <a:pt x="36512" y="114554"/>
                  </a:lnTo>
                  <a:lnTo>
                    <a:pt x="15443" y="157289"/>
                  </a:lnTo>
                  <a:lnTo>
                    <a:pt x="3111" y="203301"/>
                  </a:lnTo>
                  <a:lnTo>
                    <a:pt x="0" y="234937"/>
                  </a:lnTo>
                  <a:lnTo>
                    <a:pt x="0" y="250837"/>
                  </a:lnTo>
                  <a:lnTo>
                    <a:pt x="6223" y="298069"/>
                  </a:lnTo>
                  <a:lnTo>
                    <a:pt x="21526" y="343179"/>
                  </a:lnTo>
                  <a:lnTo>
                    <a:pt x="45351" y="384441"/>
                  </a:lnTo>
                  <a:lnTo>
                    <a:pt x="76771" y="420255"/>
                  </a:lnTo>
                  <a:lnTo>
                    <a:pt x="114554" y="449262"/>
                  </a:lnTo>
                  <a:lnTo>
                    <a:pt x="157289" y="470331"/>
                  </a:lnTo>
                  <a:lnTo>
                    <a:pt x="203301" y="482663"/>
                  </a:lnTo>
                  <a:lnTo>
                    <a:pt x="234937" y="485775"/>
                  </a:lnTo>
                  <a:lnTo>
                    <a:pt x="250837" y="485775"/>
                  </a:lnTo>
                  <a:lnTo>
                    <a:pt x="298069" y="479552"/>
                  </a:lnTo>
                  <a:lnTo>
                    <a:pt x="343192" y="464235"/>
                  </a:lnTo>
                  <a:lnTo>
                    <a:pt x="384441" y="440423"/>
                  </a:lnTo>
                  <a:lnTo>
                    <a:pt x="420255" y="409016"/>
                  </a:lnTo>
                  <a:lnTo>
                    <a:pt x="449262" y="371208"/>
                  </a:lnTo>
                  <a:lnTo>
                    <a:pt x="470331" y="328485"/>
                  </a:lnTo>
                  <a:lnTo>
                    <a:pt x="482663" y="282473"/>
                  </a:lnTo>
                  <a:lnTo>
                    <a:pt x="485775" y="250837"/>
                  </a:lnTo>
                  <a:lnTo>
                    <a:pt x="485775" y="242887"/>
                  </a:lnTo>
                  <a:lnTo>
                    <a:pt x="485775" y="234937"/>
                  </a:lnTo>
                  <a:lnTo>
                    <a:pt x="479552" y="187693"/>
                  </a:lnTo>
                  <a:lnTo>
                    <a:pt x="464235" y="142582"/>
                  </a:lnTo>
                  <a:lnTo>
                    <a:pt x="440423" y="101333"/>
                  </a:lnTo>
                  <a:lnTo>
                    <a:pt x="409003" y="65519"/>
                  </a:lnTo>
                  <a:lnTo>
                    <a:pt x="371208" y="36512"/>
                  </a:lnTo>
                  <a:lnTo>
                    <a:pt x="328485" y="15443"/>
                  </a:lnTo>
                  <a:lnTo>
                    <a:pt x="282473" y="3111"/>
                  </a:lnTo>
                  <a:lnTo>
                    <a:pt x="258775" y="393"/>
                  </a:lnTo>
                  <a:lnTo>
                    <a:pt x="250837" y="0"/>
                  </a:lnTo>
                  <a:close/>
                </a:path>
              </a:pathLst>
            </a:custGeom>
            <a:solidFill>
              <a:srgbClr val="1A2D7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58355" y="7185783"/>
              <a:ext cx="228277" cy="154731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5015903" y="7650162"/>
            <a:ext cx="5614670" cy="8724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65" dirty="0">
                <a:solidFill>
                  <a:srgbClr val="3B3434"/>
                </a:solidFill>
                <a:latin typeface="Tahoma"/>
                <a:cs typeface="Tahoma"/>
              </a:rPr>
              <a:t>Meend</a:t>
            </a:r>
            <a:r>
              <a:rPr sz="1650" b="1" spc="-2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Technique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5000"/>
              </a:lnSpc>
              <a:spcBef>
                <a:spcPts val="595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Signature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gliding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between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notes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creates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instrument's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distinctive voice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10899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25"/>
              </a:spcBef>
            </a:pPr>
            <a:r>
              <a:rPr dirty="0"/>
              <a:t>The</a:t>
            </a:r>
            <a:r>
              <a:rPr spc="-150" dirty="0"/>
              <a:t> </a:t>
            </a:r>
            <a:r>
              <a:rPr spc="-10" dirty="0"/>
              <a:t>Veena</a:t>
            </a:r>
          </a:p>
        </p:txBody>
      </p:sp>
      <p:sp>
        <p:nvSpPr>
          <p:cNvPr id="3" name="object 3"/>
          <p:cNvSpPr/>
          <p:nvPr/>
        </p:nvSpPr>
        <p:spPr>
          <a:xfrm>
            <a:off x="590550" y="386715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B34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90550" y="444817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B34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550" y="476250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B34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90550" y="5343526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84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84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B34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57311" y="1549400"/>
            <a:ext cx="3350895" cy="417322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dirty="0">
                <a:solidFill>
                  <a:srgbClr val="1F1E1E"/>
                </a:solidFill>
                <a:latin typeface="Tahoma"/>
                <a:cs typeface="Tahoma"/>
              </a:rPr>
              <a:t>South</a:t>
            </a:r>
            <a:r>
              <a:rPr sz="2000" b="1" spc="40" dirty="0">
                <a:solidFill>
                  <a:srgbClr val="1F1E1E"/>
                </a:solidFill>
                <a:latin typeface="Tahoma"/>
                <a:cs typeface="Tahoma"/>
              </a:rPr>
              <a:t> </a:t>
            </a:r>
            <a:r>
              <a:rPr sz="2000" b="1" dirty="0">
                <a:solidFill>
                  <a:srgbClr val="1F1E1E"/>
                </a:solidFill>
                <a:latin typeface="Tahoma"/>
                <a:cs typeface="Tahoma"/>
              </a:rPr>
              <a:t>Indian</a:t>
            </a:r>
            <a:r>
              <a:rPr sz="2000" b="1" spc="45" dirty="0">
                <a:solidFill>
                  <a:srgbClr val="1F1E1E"/>
                </a:solidFill>
                <a:latin typeface="Tahoma"/>
                <a:cs typeface="Tahoma"/>
              </a:rPr>
              <a:t> </a:t>
            </a:r>
            <a:r>
              <a:rPr sz="2000" b="1" spc="-10" dirty="0">
                <a:solidFill>
                  <a:srgbClr val="1F1E1E"/>
                </a:solidFill>
                <a:latin typeface="Tahoma"/>
                <a:cs typeface="Tahoma"/>
              </a:rPr>
              <a:t>Grandeur</a:t>
            </a:r>
            <a:endParaRPr sz="2000">
              <a:latin typeface="Tahoma"/>
              <a:cs typeface="Tahoma"/>
            </a:endParaRPr>
          </a:p>
          <a:p>
            <a:pPr marL="12700" marR="24765">
              <a:lnSpc>
                <a:spcPct val="136000"/>
              </a:lnSpc>
              <a:spcBef>
                <a:spcPts val="111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veena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represents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classical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music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tradition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South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India,</a:t>
            </a:r>
            <a:r>
              <a:rPr sz="1250" spc="-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with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origins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tracing back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thousands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45" dirty="0">
                <a:solidFill>
                  <a:srgbClr val="3B3434"/>
                </a:solidFill>
                <a:latin typeface="Verdana"/>
                <a:cs typeface="Verdana"/>
              </a:rPr>
              <a:t>years.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Its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resonant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tone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precise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articulation have</a:t>
            </a:r>
            <a:r>
              <a:rPr sz="1250" spc="-7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made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it</a:t>
            </a:r>
            <a:r>
              <a:rPr sz="1250" spc="-7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7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queen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7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Carnatic music.</a:t>
            </a:r>
            <a:endParaRPr sz="1250">
              <a:latin typeface="Verdana"/>
              <a:cs typeface="Verdana"/>
            </a:endParaRPr>
          </a:p>
          <a:p>
            <a:pPr marL="273050" marR="126364">
              <a:lnSpc>
                <a:spcPct val="135000"/>
              </a:lnSpc>
              <a:spcBef>
                <a:spcPts val="1200"/>
              </a:spcBef>
            </a:pP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7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strings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provide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5" dirty="0">
                <a:solidFill>
                  <a:srgbClr val="3B3434"/>
                </a:solidFill>
                <a:latin typeface="Verdana"/>
                <a:cs typeface="Verdana"/>
              </a:rPr>
              <a:t>melodic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drone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capabilities</a:t>
            </a:r>
            <a:endParaRPr sz="1250">
              <a:latin typeface="Verdana"/>
              <a:cs typeface="Verdana"/>
            </a:endParaRPr>
          </a:p>
          <a:p>
            <a:pPr marL="273050">
              <a:lnSpc>
                <a:spcPct val="100000"/>
              </a:lnSpc>
              <a:spcBef>
                <a:spcPts val="105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Fixed</a:t>
            </a:r>
            <a:r>
              <a:rPr sz="1250" spc="-8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frets</a:t>
            </a:r>
            <a:r>
              <a:rPr sz="1250" spc="-8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ensure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perfect</a:t>
            </a:r>
            <a:r>
              <a:rPr sz="1250" spc="-8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intonation</a:t>
            </a:r>
            <a:endParaRPr sz="1250">
              <a:latin typeface="Verdana"/>
              <a:cs typeface="Verdana"/>
            </a:endParaRPr>
          </a:p>
          <a:p>
            <a:pPr marL="273050" marR="5080">
              <a:lnSpc>
                <a:spcPct val="135000"/>
              </a:lnSpc>
              <a:spcBef>
                <a:spcPts val="45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Masterful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gamakas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express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emotional nuances</a:t>
            </a:r>
            <a:endParaRPr sz="1250">
              <a:latin typeface="Verdana"/>
              <a:cs typeface="Verdana"/>
            </a:endParaRPr>
          </a:p>
          <a:p>
            <a:pPr marL="273050" marR="398780">
              <a:lnSpc>
                <a:spcPct val="135000"/>
              </a:lnSpc>
              <a:spcBef>
                <a:spcPts val="525"/>
              </a:spcBef>
            </a:pP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Solid</a:t>
            </a:r>
            <a:r>
              <a:rPr sz="1250" spc="-1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70" dirty="0">
                <a:solidFill>
                  <a:srgbClr val="3B3434"/>
                </a:solidFill>
                <a:latin typeface="Verdana"/>
                <a:cs typeface="Verdana"/>
              </a:rPr>
              <a:t>wood</a:t>
            </a:r>
            <a:r>
              <a:rPr sz="1250" spc="-1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construction</a:t>
            </a:r>
            <a:r>
              <a:rPr sz="1250" spc="-1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creates warm</a:t>
            </a:r>
            <a:r>
              <a:rPr sz="1250" spc="-1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timbre</a:t>
            </a:r>
            <a:endParaRPr sz="1250">
              <a:latin typeface="Verdana"/>
              <a:cs typeface="Verdana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24350" y="1781175"/>
            <a:ext cx="6543674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57311" y="1263650"/>
            <a:ext cx="558736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Two</a:t>
            </a:r>
            <a:r>
              <a:rPr spc="-95" dirty="0"/>
              <a:t> </a:t>
            </a:r>
            <a:r>
              <a:rPr dirty="0"/>
              <a:t>Worlds,</a:t>
            </a:r>
            <a:r>
              <a:rPr spc="-90" dirty="0"/>
              <a:t> </a:t>
            </a:r>
            <a:r>
              <a:rPr spc="85" dirty="0"/>
              <a:t>One</a:t>
            </a:r>
            <a:r>
              <a:rPr spc="-90" dirty="0"/>
              <a:t> </a:t>
            </a:r>
            <a:r>
              <a:rPr spc="-10" dirty="0"/>
              <a:t>Purpose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2143125"/>
            <a:ext cx="1400175" cy="140017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57311" y="3735387"/>
            <a:ext cx="2151380" cy="13868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Sitar</a:t>
            </a:r>
            <a:r>
              <a:rPr sz="1650" b="1" spc="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Structure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6700"/>
              </a:lnSpc>
              <a:spcBef>
                <a:spcPts val="495"/>
              </a:spcBef>
            </a:pP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Taraf</a:t>
            </a:r>
            <a:r>
              <a:rPr sz="1250" spc="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sympathetic</a:t>
            </a:r>
            <a:r>
              <a:rPr sz="1250" spc="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strings,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large</a:t>
            </a:r>
            <a:r>
              <a:rPr sz="1250" spc="-6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tumba</a:t>
            </a:r>
            <a:r>
              <a:rPr sz="1250" spc="-5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resonator,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curved neck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with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movable frets</a:t>
            </a:r>
            <a:endParaRPr sz="1250">
              <a:latin typeface="Verdana"/>
              <a:cs typeface="Verdan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90875" y="2143125"/>
            <a:ext cx="1409700" cy="140017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180702" y="3735387"/>
            <a:ext cx="2428875" cy="112966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Veena</a:t>
            </a:r>
            <a:r>
              <a:rPr sz="1650" b="1" spc="100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Structure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7500"/>
              </a:lnSpc>
              <a:spcBef>
                <a:spcPts val="484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Dandi</a:t>
            </a:r>
            <a:r>
              <a:rPr sz="1250" spc="7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fingerboard,</a:t>
            </a:r>
            <a:r>
              <a:rPr sz="1250" spc="7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tala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bridge,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resonant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body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carved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from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jackwood</a:t>
            </a:r>
            <a:endParaRPr sz="1250">
              <a:latin typeface="Verdana"/>
              <a:cs typeface="Verdana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19775" y="2143125"/>
            <a:ext cx="1400175" cy="140017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5804103" y="3735387"/>
            <a:ext cx="2310130" cy="112966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Sitar</a:t>
            </a:r>
            <a:r>
              <a:rPr sz="1650" b="1" spc="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Playing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7500"/>
              </a:lnSpc>
              <a:spcBef>
                <a:spcPts val="484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Expressive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meend,</a:t>
            </a:r>
            <a:r>
              <a:rPr sz="1250" spc="-7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resonant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drone,</a:t>
            </a:r>
            <a:r>
              <a:rPr sz="1250" spc="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fluid</a:t>
            </a:r>
            <a:r>
              <a:rPr sz="1250" spc="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glides</a:t>
            </a:r>
            <a:r>
              <a:rPr sz="1250" spc="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between notes</a:t>
            </a:r>
            <a:endParaRPr sz="1250">
              <a:latin typeface="Verdana"/>
              <a:cs typeface="Verdana"/>
            </a:endParaRPr>
          </a:p>
        </p:txBody>
      </p:sp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439150" y="2143125"/>
            <a:ext cx="1400175" cy="140017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427491" y="3735387"/>
            <a:ext cx="2192020" cy="112966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Veena</a:t>
            </a:r>
            <a:r>
              <a:rPr sz="1650" b="1" spc="100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Playing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7500"/>
              </a:lnSpc>
              <a:spcBef>
                <a:spcPts val="484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Precise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gamakas,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rhythmic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patterns,</a:t>
            </a:r>
            <a:r>
              <a:rPr sz="1250" spc="-9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intricate ornamentation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57311" y="1701800"/>
            <a:ext cx="453707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1F1D1D"/>
                </a:solidFill>
              </a:rPr>
              <a:t>Musical</a:t>
            </a:r>
            <a:r>
              <a:rPr spc="229" dirty="0">
                <a:solidFill>
                  <a:srgbClr val="1F1D1D"/>
                </a:solidFill>
              </a:rPr>
              <a:t> </a:t>
            </a:r>
            <a:r>
              <a:rPr spc="45" dirty="0">
                <a:solidFill>
                  <a:srgbClr val="1F1D1D"/>
                </a:solidFill>
              </a:rPr>
              <a:t>Architecture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66410" y="2585710"/>
            <a:ext cx="10298430" cy="662305"/>
            <a:chOff x="566410" y="2585710"/>
            <a:chExt cx="10298430" cy="662305"/>
          </a:xfrm>
        </p:grpSpPr>
        <p:sp>
          <p:nvSpPr>
            <p:cNvPr id="5" name="object 5"/>
            <p:cNvSpPr/>
            <p:nvPr/>
          </p:nvSpPr>
          <p:spPr>
            <a:xfrm>
              <a:off x="571499" y="2590799"/>
              <a:ext cx="3430270" cy="651510"/>
            </a:xfrm>
            <a:custGeom>
              <a:avLst/>
              <a:gdLst/>
              <a:ahLst/>
              <a:cxnLst/>
              <a:rect l="l" t="t" r="r" b="b"/>
              <a:pathLst>
                <a:path w="3430270" h="651510">
                  <a:moveTo>
                    <a:pt x="3267015" y="651509"/>
                  </a:moveTo>
                  <a:lnTo>
                    <a:pt x="0" y="651509"/>
                  </a:lnTo>
                  <a:lnTo>
                    <a:pt x="162877" y="325754"/>
                  </a:lnTo>
                  <a:lnTo>
                    <a:pt x="0" y="0"/>
                  </a:lnTo>
                  <a:lnTo>
                    <a:pt x="3267015" y="0"/>
                  </a:lnTo>
                  <a:lnTo>
                    <a:pt x="3429892" y="325754"/>
                  </a:lnTo>
                  <a:lnTo>
                    <a:pt x="3267015" y="651509"/>
                  </a:lnTo>
                  <a:close/>
                </a:path>
              </a:pathLst>
            </a:custGeom>
            <a:solidFill>
              <a:srgbClr val="D5DB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71499" y="2590799"/>
              <a:ext cx="3430270" cy="651510"/>
            </a:xfrm>
            <a:custGeom>
              <a:avLst/>
              <a:gdLst/>
              <a:ahLst/>
              <a:cxnLst/>
              <a:rect l="l" t="t" r="r" b="b"/>
              <a:pathLst>
                <a:path w="3430270" h="651510">
                  <a:moveTo>
                    <a:pt x="3267015" y="0"/>
                  </a:moveTo>
                  <a:lnTo>
                    <a:pt x="3429892" y="325754"/>
                  </a:lnTo>
                  <a:lnTo>
                    <a:pt x="3267015" y="651509"/>
                  </a:lnTo>
                  <a:lnTo>
                    <a:pt x="0" y="651509"/>
                  </a:lnTo>
                  <a:lnTo>
                    <a:pt x="162877" y="325754"/>
                  </a:lnTo>
                  <a:lnTo>
                    <a:pt x="0" y="0"/>
                  </a:lnTo>
                  <a:lnTo>
                    <a:pt x="3267015" y="0"/>
                  </a:lnTo>
                  <a:close/>
                </a:path>
              </a:pathLst>
            </a:custGeom>
            <a:ln w="10179">
              <a:solidFill>
                <a:srgbClr val="BAC2D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57185" y="2785416"/>
              <a:ext cx="254286" cy="25504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000499" y="2590799"/>
              <a:ext cx="3430270" cy="651510"/>
            </a:xfrm>
            <a:custGeom>
              <a:avLst/>
              <a:gdLst/>
              <a:ahLst/>
              <a:cxnLst/>
              <a:rect l="l" t="t" r="r" b="b"/>
              <a:pathLst>
                <a:path w="3430270" h="651510">
                  <a:moveTo>
                    <a:pt x="3267163" y="651509"/>
                  </a:moveTo>
                  <a:lnTo>
                    <a:pt x="0" y="651509"/>
                  </a:lnTo>
                  <a:lnTo>
                    <a:pt x="162877" y="325754"/>
                  </a:lnTo>
                  <a:lnTo>
                    <a:pt x="0" y="0"/>
                  </a:lnTo>
                  <a:lnTo>
                    <a:pt x="3267163" y="0"/>
                  </a:lnTo>
                  <a:lnTo>
                    <a:pt x="3430041" y="325754"/>
                  </a:lnTo>
                  <a:lnTo>
                    <a:pt x="3267163" y="651509"/>
                  </a:lnTo>
                  <a:close/>
                </a:path>
              </a:pathLst>
            </a:custGeom>
            <a:solidFill>
              <a:srgbClr val="D5DB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000499" y="2590799"/>
              <a:ext cx="3430270" cy="651510"/>
            </a:xfrm>
            <a:custGeom>
              <a:avLst/>
              <a:gdLst/>
              <a:ahLst/>
              <a:cxnLst/>
              <a:rect l="l" t="t" r="r" b="b"/>
              <a:pathLst>
                <a:path w="3430270" h="651510">
                  <a:moveTo>
                    <a:pt x="3267163" y="0"/>
                  </a:moveTo>
                  <a:lnTo>
                    <a:pt x="3430041" y="325754"/>
                  </a:lnTo>
                  <a:lnTo>
                    <a:pt x="3267163" y="651509"/>
                  </a:lnTo>
                  <a:lnTo>
                    <a:pt x="0" y="651509"/>
                  </a:lnTo>
                  <a:lnTo>
                    <a:pt x="162877" y="325754"/>
                  </a:lnTo>
                  <a:lnTo>
                    <a:pt x="0" y="0"/>
                  </a:lnTo>
                  <a:lnTo>
                    <a:pt x="3267163" y="0"/>
                  </a:lnTo>
                  <a:close/>
                </a:path>
              </a:pathLst>
            </a:custGeom>
            <a:ln w="10179">
              <a:solidFill>
                <a:srgbClr val="BAC2D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85734" y="2798383"/>
              <a:ext cx="255151" cy="22910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429499" y="2590799"/>
              <a:ext cx="3430270" cy="651510"/>
            </a:xfrm>
            <a:custGeom>
              <a:avLst/>
              <a:gdLst/>
              <a:ahLst/>
              <a:cxnLst/>
              <a:rect l="l" t="t" r="r" b="b"/>
              <a:pathLst>
                <a:path w="3430270" h="651510">
                  <a:moveTo>
                    <a:pt x="3267015" y="651509"/>
                  </a:moveTo>
                  <a:lnTo>
                    <a:pt x="0" y="651509"/>
                  </a:lnTo>
                  <a:lnTo>
                    <a:pt x="162877" y="325754"/>
                  </a:lnTo>
                  <a:lnTo>
                    <a:pt x="0" y="0"/>
                  </a:lnTo>
                  <a:lnTo>
                    <a:pt x="3267015" y="0"/>
                  </a:lnTo>
                  <a:lnTo>
                    <a:pt x="3429892" y="325754"/>
                  </a:lnTo>
                  <a:lnTo>
                    <a:pt x="3267015" y="651509"/>
                  </a:lnTo>
                  <a:close/>
                </a:path>
              </a:pathLst>
            </a:custGeom>
            <a:solidFill>
              <a:srgbClr val="D5DB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429499" y="2590799"/>
              <a:ext cx="3430270" cy="651510"/>
            </a:xfrm>
            <a:custGeom>
              <a:avLst/>
              <a:gdLst/>
              <a:ahLst/>
              <a:cxnLst/>
              <a:rect l="l" t="t" r="r" b="b"/>
              <a:pathLst>
                <a:path w="3430270" h="651510">
                  <a:moveTo>
                    <a:pt x="3267015" y="0"/>
                  </a:moveTo>
                  <a:lnTo>
                    <a:pt x="3429892" y="325754"/>
                  </a:lnTo>
                  <a:lnTo>
                    <a:pt x="3267015" y="651509"/>
                  </a:lnTo>
                  <a:lnTo>
                    <a:pt x="0" y="651509"/>
                  </a:lnTo>
                  <a:lnTo>
                    <a:pt x="162877" y="325754"/>
                  </a:lnTo>
                  <a:lnTo>
                    <a:pt x="0" y="0"/>
                  </a:lnTo>
                  <a:lnTo>
                    <a:pt x="3267015" y="0"/>
                  </a:lnTo>
                  <a:close/>
                </a:path>
              </a:pathLst>
            </a:custGeom>
            <a:ln w="10179">
              <a:solidFill>
                <a:srgbClr val="BAC2D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017025" y="2785414"/>
              <a:ext cx="250457" cy="255140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720129" y="3382962"/>
            <a:ext cx="2426335" cy="112966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3B3434"/>
                </a:solidFill>
                <a:latin typeface="Tahoma"/>
                <a:cs typeface="Tahoma"/>
              </a:rPr>
              <a:t>Sympathetic</a:t>
            </a:r>
            <a:r>
              <a:rPr sz="1650" b="1" spc="-1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Strings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5000"/>
              </a:lnSpc>
              <a:spcBef>
                <a:spcPts val="595"/>
              </a:spcBef>
            </a:pPr>
            <a:r>
              <a:rPr sz="1250" spc="-210" dirty="0">
                <a:solidFill>
                  <a:srgbClr val="3B3434"/>
                </a:solidFill>
                <a:latin typeface="Verdana"/>
                <a:cs typeface="Verdana"/>
              </a:rPr>
              <a:t>11–13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taraf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strings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vibrate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sympathetically,</a:t>
            </a:r>
            <a:r>
              <a:rPr sz="1250" spc="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creating</a:t>
            </a:r>
            <a:r>
              <a:rPr sz="1250" spc="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rich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resonance</a:t>
            </a:r>
            <a:endParaRPr sz="125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150022" y="3382962"/>
            <a:ext cx="2968625" cy="8724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60" dirty="0">
                <a:solidFill>
                  <a:srgbClr val="3B3434"/>
                </a:solidFill>
                <a:latin typeface="Tahoma"/>
                <a:cs typeface="Tahoma"/>
              </a:rPr>
              <a:t>Tumba</a:t>
            </a:r>
            <a:r>
              <a:rPr sz="1650" b="1" spc="-1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Resonator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5000"/>
              </a:lnSpc>
              <a:spcBef>
                <a:spcPts val="595"/>
              </a:spcBef>
            </a:pPr>
            <a:r>
              <a:rPr sz="1250" spc="65" dirty="0">
                <a:solidFill>
                  <a:srgbClr val="3B3434"/>
                </a:solidFill>
                <a:latin typeface="Verdana"/>
                <a:cs typeface="Verdana"/>
              </a:rPr>
              <a:t>Oblong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gourd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body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amplifies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sound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with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warm,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mellow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tonal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quality</a:t>
            </a:r>
            <a:endParaRPr sz="1250">
              <a:latin typeface="Verdana"/>
              <a:cs typeface="Verdan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580064" y="3382962"/>
            <a:ext cx="2841625" cy="8724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Movable</a:t>
            </a:r>
            <a:r>
              <a:rPr sz="1650" b="1" spc="21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20" dirty="0">
                <a:solidFill>
                  <a:srgbClr val="3B3434"/>
                </a:solidFill>
                <a:latin typeface="Tahoma"/>
                <a:cs typeface="Tahoma"/>
              </a:rPr>
              <a:t>Frets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5000"/>
              </a:lnSpc>
              <a:spcBef>
                <a:spcPts val="595"/>
              </a:spcBef>
            </a:pP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20–25</a:t>
            </a:r>
            <a:r>
              <a:rPr sz="1250" spc="-5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frets</a:t>
            </a:r>
            <a:r>
              <a:rPr sz="1250" spc="-5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can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be</a:t>
            </a:r>
            <a:r>
              <a:rPr sz="1250" spc="-5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adjusted</a:t>
            </a:r>
            <a:r>
              <a:rPr sz="1250" spc="-5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for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different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ragas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tuning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systems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643864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843564" y="1501775"/>
            <a:ext cx="3837304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Expressive</a:t>
            </a:r>
            <a:r>
              <a:rPr spc="-60" dirty="0"/>
              <a:t> </a:t>
            </a:r>
            <a:r>
              <a:rPr spc="-10" dirty="0"/>
              <a:t>Voices</a:t>
            </a:r>
          </a:p>
        </p:txBody>
      </p:sp>
      <p:sp>
        <p:nvSpPr>
          <p:cNvPr id="5" name="object 5"/>
          <p:cNvSpPr/>
          <p:nvPr/>
        </p:nvSpPr>
        <p:spPr>
          <a:xfrm>
            <a:off x="4743450" y="2305049"/>
            <a:ext cx="3028950" cy="2609850"/>
          </a:xfrm>
          <a:custGeom>
            <a:avLst/>
            <a:gdLst/>
            <a:ahLst/>
            <a:cxnLst/>
            <a:rect l="l" t="t" r="r" b="b"/>
            <a:pathLst>
              <a:path w="3028950" h="2609850">
                <a:moveTo>
                  <a:pt x="2937637" y="0"/>
                </a:moveTo>
                <a:lnTo>
                  <a:pt x="91313" y="0"/>
                </a:lnTo>
                <a:lnTo>
                  <a:pt x="84950" y="622"/>
                </a:lnTo>
                <a:lnTo>
                  <a:pt x="48768" y="12903"/>
                </a:lnTo>
                <a:lnTo>
                  <a:pt x="20027" y="38100"/>
                </a:lnTo>
                <a:lnTo>
                  <a:pt x="3124" y="72364"/>
                </a:lnTo>
                <a:lnTo>
                  <a:pt x="0" y="91313"/>
                </a:lnTo>
                <a:lnTo>
                  <a:pt x="0" y="2512123"/>
                </a:lnTo>
                <a:lnTo>
                  <a:pt x="0" y="2518537"/>
                </a:lnTo>
                <a:lnTo>
                  <a:pt x="9893" y="2555443"/>
                </a:lnTo>
                <a:lnTo>
                  <a:pt x="33159" y="2585758"/>
                </a:lnTo>
                <a:lnTo>
                  <a:pt x="66255" y="2604858"/>
                </a:lnTo>
                <a:lnTo>
                  <a:pt x="91313" y="2609850"/>
                </a:lnTo>
                <a:lnTo>
                  <a:pt x="2937637" y="2609850"/>
                </a:lnTo>
                <a:lnTo>
                  <a:pt x="2974543" y="2599956"/>
                </a:lnTo>
                <a:lnTo>
                  <a:pt x="3004870" y="2576690"/>
                </a:lnTo>
                <a:lnTo>
                  <a:pt x="3023958" y="2543594"/>
                </a:lnTo>
                <a:lnTo>
                  <a:pt x="3028950" y="2518537"/>
                </a:lnTo>
                <a:lnTo>
                  <a:pt x="3028950" y="91313"/>
                </a:lnTo>
                <a:lnTo>
                  <a:pt x="3019056" y="54394"/>
                </a:lnTo>
                <a:lnTo>
                  <a:pt x="2995790" y="24091"/>
                </a:lnTo>
                <a:lnTo>
                  <a:pt x="2962694" y="4978"/>
                </a:lnTo>
                <a:lnTo>
                  <a:pt x="2943999" y="622"/>
                </a:lnTo>
                <a:lnTo>
                  <a:pt x="2937637" y="0"/>
                </a:lnTo>
                <a:close/>
              </a:path>
            </a:pathLst>
          </a:custGeom>
          <a:solidFill>
            <a:srgbClr val="D3DC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889106" y="2444750"/>
            <a:ext cx="2693670" cy="22967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10" dirty="0">
                <a:solidFill>
                  <a:srgbClr val="1F1E1E"/>
                </a:solidFill>
                <a:latin typeface="Tahoma"/>
                <a:cs typeface="Tahoma"/>
              </a:rPr>
              <a:t>Sitar</a:t>
            </a:r>
            <a:endParaRPr sz="2000">
              <a:latin typeface="Tahoma"/>
              <a:cs typeface="Tahoma"/>
            </a:endParaRPr>
          </a:p>
          <a:p>
            <a:pPr marL="12700" marR="5080">
              <a:lnSpc>
                <a:spcPct val="136700"/>
              </a:lnSpc>
              <a:spcBef>
                <a:spcPts val="1100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Known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for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its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expressive,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flowing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meend</a:t>
            </a:r>
            <a:r>
              <a:rPr sz="1250" spc="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that</a:t>
            </a:r>
            <a:r>
              <a:rPr sz="1250" spc="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glides</a:t>
            </a:r>
            <a:r>
              <a:rPr sz="1250" spc="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seamlessly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between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notes.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sympathetic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strings create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a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shimmering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halo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sound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around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each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note,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evoking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deep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emotion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and </a:t>
            </a:r>
            <a:r>
              <a:rPr sz="1250" spc="20" dirty="0">
                <a:solidFill>
                  <a:srgbClr val="3B3434"/>
                </a:solidFill>
                <a:latin typeface="Verdana"/>
                <a:cs typeface="Verdana"/>
              </a:rPr>
              <a:t>contemplative</a:t>
            </a:r>
            <a:r>
              <a:rPr sz="1250" spc="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mood.</a:t>
            </a:r>
            <a:endParaRPr sz="1250">
              <a:latin typeface="Verdana"/>
              <a:cs typeface="Verdan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953375" y="2305049"/>
            <a:ext cx="3028950" cy="2609850"/>
          </a:xfrm>
          <a:custGeom>
            <a:avLst/>
            <a:gdLst/>
            <a:ahLst/>
            <a:cxnLst/>
            <a:rect l="l" t="t" r="r" b="b"/>
            <a:pathLst>
              <a:path w="3028950" h="2609850">
                <a:moveTo>
                  <a:pt x="2937637" y="0"/>
                </a:moveTo>
                <a:lnTo>
                  <a:pt x="91313" y="0"/>
                </a:lnTo>
                <a:lnTo>
                  <a:pt x="84950" y="622"/>
                </a:lnTo>
                <a:lnTo>
                  <a:pt x="48768" y="12903"/>
                </a:lnTo>
                <a:lnTo>
                  <a:pt x="20027" y="38100"/>
                </a:lnTo>
                <a:lnTo>
                  <a:pt x="3124" y="72364"/>
                </a:lnTo>
                <a:lnTo>
                  <a:pt x="0" y="91313"/>
                </a:lnTo>
                <a:lnTo>
                  <a:pt x="0" y="2512123"/>
                </a:lnTo>
                <a:lnTo>
                  <a:pt x="0" y="2518537"/>
                </a:lnTo>
                <a:lnTo>
                  <a:pt x="9893" y="2555443"/>
                </a:lnTo>
                <a:lnTo>
                  <a:pt x="33159" y="2585758"/>
                </a:lnTo>
                <a:lnTo>
                  <a:pt x="66255" y="2604858"/>
                </a:lnTo>
                <a:lnTo>
                  <a:pt x="91313" y="2609850"/>
                </a:lnTo>
                <a:lnTo>
                  <a:pt x="2937637" y="2609850"/>
                </a:lnTo>
                <a:lnTo>
                  <a:pt x="2974543" y="2599956"/>
                </a:lnTo>
                <a:lnTo>
                  <a:pt x="3004870" y="2576690"/>
                </a:lnTo>
                <a:lnTo>
                  <a:pt x="3023958" y="2543594"/>
                </a:lnTo>
                <a:lnTo>
                  <a:pt x="3028950" y="2518537"/>
                </a:lnTo>
                <a:lnTo>
                  <a:pt x="3028950" y="91313"/>
                </a:lnTo>
                <a:lnTo>
                  <a:pt x="3019056" y="54394"/>
                </a:lnTo>
                <a:lnTo>
                  <a:pt x="2995790" y="24091"/>
                </a:lnTo>
                <a:lnTo>
                  <a:pt x="2962694" y="4978"/>
                </a:lnTo>
                <a:lnTo>
                  <a:pt x="2943999" y="622"/>
                </a:lnTo>
                <a:lnTo>
                  <a:pt x="2937637" y="0"/>
                </a:lnTo>
                <a:close/>
              </a:path>
            </a:pathLst>
          </a:custGeom>
          <a:solidFill>
            <a:srgbClr val="E7EE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8099170" y="2444750"/>
            <a:ext cx="2635885" cy="22967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10" dirty="0">
                <a:solidFill>
                  <a:srgbClr val="1F1E1E"/>
                </a:solidFill>
                <a:latin typeface="Tahoma"/>
                <a:cs typeface="Tahoma"/>
              </a:rPr>
              <a:t>Veena</a:t>
            </a:r>
            <a:endParaRPr sz="2000">
              <a:latin typeface="Tahoma"/>
              <a:cs typeface="Tahoma"/>
            </a:endParaRPr>
          </a:p>
          <a:p>
            <a:pPr marL="12700" marR="5080">
              <a:lnSpc>
                <a:spcPct val="136700"/>
              </a:lnSpc>
              <a:spcBef>
                <a:spcPts val="1100"/>
              </a:spcBef>
            </a:pP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Renowned</a:t>
            </a:r>
            <a:r>
              <a:rPr sz="1250" spc="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for</a:t>
            </a:r>
            <a:r>
              <a:rPr sz="1250" spc="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precise</a:t>
            </a:r>
            <a:r>
              <a:rPr sz="1250" spc="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gamakas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that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ornament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each</a:t>
            </a:r>
            <a:r>
              <a:rPr sz="1250" spc="-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note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with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rhythmic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vitality.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fixed</a:t>
            </a:r>
            <a:r>
              <a:rPr sz="1250" spc="-5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frets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ensure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perfect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intonation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whilst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allowing</a:t>
            </a:r>
            <a:r>
              <a:rPr sz="1250" spc="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intricate</a:t>
            </a:r>
            <a:r>
              <a:rPr sz="1250" spc="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variations</a:t>
            </a:r>
            <a:r>
              <a:rPr sz="1250" spc="7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in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pitch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7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volume</a:t>
            </a:r>
            <a:r>
              <a:rPr sz="1250" spc="-7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for</a:t>
            </a:r>
            <a:r>
              <a:rPr sz="1250" spc="-7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dramatic expression.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57311" y="1616075"/>
            <a:ext cx="644588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1F1D1D"/>
                </a:solidFill>
              </a:rPr>
              <a:t>Legends</a:t>
            </a:r>
            <a:r>
              <a:rPr spc="30" dirty="0">
                <a:solidFill>
                  <a:srgbClr val="1F1D1D"/>
                </a:solidFill>
              </a:rPr>
              <a:t> </a:t>
            </a:r>
            <a:r>
              <a:rPr spc="135" dirty="0">
                <a:solidFill>
                  <a:srgbClr val="1F1D1D"/>
                </a:solidFill>
              </a:rPr>
              <a:t>Who</a:t>
            </a:r>
            <a:r>
              <a:rPr spc="30" dirty="0">
                <a:solidFill>
                  <a:srgbClr val="1F1D1D"/>
                </a:solidFill>
              </a:rPr>
              <a:t> </a:t>
            </a:r>
            <a:r>
              <a:rPr spc="85" dirty="0">
                <a:solidFill>
                  <a:srgbClr val="1F1D1D"/>
                </a:solidFill>
              </a:rPr>
              <a:t>Shaped</a:t>
            </a:r>
            <a:r>
              <a:rPr spc="30" dirty="0">
                <a:solidFill>
                  <a:srgbClr val="1F1D1D"/>
                </a:solidFill>
              </a:rPr>
              <a:t> </a:t>
            </a:r>
            <a:r>
              <a:rPr spc="-10" dirty="0">
                <a:solidFill>
                  <a:srgbClr val="1F1D1D"/>
                </a:solidFill>
              </a:rPr>
              <a:t>History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52449" y="2505074"/>
            <a:ext cx="3343275" cy="2295525"/>
            <a:chOff x="552449" y="2505074"/>
            <a:chExt cx="3343275" cy="2295525"/>
          </a:xfrm>
        </p:grpSpPr>
        <p:sp>
          <p:nvSpPr>
            <p:cNvPr id="5" name="object 5"/>
            <p:cNvSpPr/>
            <p:nvPr/>
          </p:nvSpPr>
          <p:spPr>
            <a:xfrm>
              <a:off x="571499" y="2514599"/>
              <a:ext cx="3314700" cy="2276475"/>
            </a:xfrm>
            <a:custGeom>
              <a:avLst/>
              <a:gdLst/>
              <a:ahLst/>
              <a:cxnLst/>
              <a:rect l="l" t="t" r="r" b="b"/>
              <a:pathLst>
                <a:path w="3314700" h="2276475">
                  <a:moveTo>
                    <a:pt x="3273514" y="2276474"/>
                  </a:moveTo>
                  <a:lnTo>
                    <a:pt x="71196" y="2276474"/>
                  </a:lnTo>
                  <a:lnTo>
                    <a:pt x="66241" y="2276047"/>
                  </a:lnTo>
                  <a:lnTo>
                    <a:pt x="29705" y="2262805"/>
                  </a:lnTo>
                  <a:lnTo>
                    <a:pt x="3885" y="2231269"/>
                  </a:lnTo>
                  <a:lnTo>
                    <a:pt x="0" y="2214177"/>
                  </a:lnTo>
                  <a:lnTo>
                    <a:pt x="0" y="2209799"/>
                  </a:lnTo>
                  <a:lnTo>
                    <a:pt x="0" y="62296"/>
                  </a:lnTo>
                  <a:lnTo>
                    <a:pt x="15621" y="25992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3273514" y="0"/>
                  </a:lnTo>
                  <a:lnTo>
                    <a:pt x="3308675" y="23493"/>
                  </a:lnTo>
                  <a:lnTo>
                    <a:pt x="3314699" y="41185"/>
                  </a:lnTo>
                  <a:lnTo>
                    <a:pt x="3314699" y="2235289"/>
                  </a:lnTo>
                  <a:lnTo>
                    <a:pt x="3291205" y="2270450"/>
                  </a:lnTo>
                  <a:lnTo>
                    <a:pt x="3279570" y="2275269"/>
                  </a:lnTo>
                  <a:lnTo>
                    <a:pt x="3273514" y="2276474"/>
                  </a:lnTo>
                  <a:close/>
                </a:path>
              </a:pathLst>
            </a:custGeom>
            <a:solidFill>
              <a:srgbClr val="FF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72338" y="2505074"/>
              <a:ext cx="3323590" cy="2295525"/>
            </a:xfrm>
            <a:custGeom>
              <a:avLst/>
              <a:gdLst/>
              <a:ahLst/>
              <a:cxnLst/>
              <a:rect l="l" t="t" r="r" b="b"/>
              <a:pathLst>
                <a:path w="3323590" h="2295525">
                  <a:moveTo>
                    <a:pt x="3323374" y="49441"/>
                  </a:moveTo>
                  <a:lnTo>
                    <a:pt x="3321939" y="42176"/>
                  </a:lnTo>
                  <a:lnTo>
                    <a:pt x="3316147" y="28206"/>
                  </a:lnTo>
                  <a:lnTo>
                    <a:pt x="3312033" y="22047"/>
                  </a:lnTo>
                  <a:lnTo>
                    <a:pt x="3307156" y="17183"/>
                  </a:lnTo>
                  <a:lnTo>
                    <a:pt x="3306686" y="16700"/>
                  </a:lnTo>
                  <a:lnTo>
                    <a:pt x="3301339" y="11353"/>
                  </a:lnTo>
                  <a:lnTo>
                    <a:pt x="3295167" y="7239"/>
                  </a:lnTo>
                  <a:lnTo>
                    <a:pt x="3281210" y="1460"/>
                  </a:lnTo>
                  <a:lnTo>
                    <a:pt x="3273933" y="0"/>
                  </a:lnTo>
                  <a:lnTo>
                    <a:pt x="75349" y="0"/>
                  </a:lnTo>
                  <a:lnTo>
                    <a:pt x="33007" y="12839"/>
                  </a:lnTo>
                  <a:lnTo>
                    <a:pt x="4953" y="47040"/>
                  </a:lnTo>
                  <a:lnTo>
                    <a:pt x="4851" y="47332"/>
                  </a:lnTo>
                  <a:lnTo>
                    <a:pt x="2413" y="54114"/>
                  </a:lnTo>
                  <a:lnTo>
                    <a:pt x="609" y="61341"/>
                  </a:lnTo>
                  <a:lnTo>
                    <a:pt x="0" y="65455"/>
                  </a:lnTo>
                  <a:lnTo>
                    <a:pt x="1092" y="61341"/>
                  </a:lnTo>
                  <a:lnTo>
                    <a:pt x="8826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3266376" y="19050"/>
                  </a:lnTo>
                  <a:lnTo>
                    <a:pt x="3293643" y="30695"/>
                  </a:lnTo>
                  <a:lnTo>
                    <a:pt x="3298075" y="36017"/>
                  </a:lnTo>
                  <a:lnTo>
                    <a:pt x="3301555" y="42443"/>
                  </a:lnTo>
                  <a:lnTo>
                    <a:pt x="3303638" y="49441"/>
                  </a:lnTo>
                  <a:lnTo>
                    <a:pt x="3304324" y="57010"/>
                  </a:lnTo>
                  <a:lnTo>
                    <a:pt x="3304324" y="2238527"/>
                  </a:lnTo>
                  <a:lnTo>
                    <a:pt x="3303638" y="2246084"/>
                  </a:lnTo>
                  <a:lnTo>
                    <a:pt x="3301555" y="2253094"/>
                  </a:lnTo>
                  <a:lnTo>
                    <a:pt x="3298075" y="2259520"/>
                  </a:lnTo>
                  <a:lnTo>
                    <a:pt x="3293643" y="2264841"/>
                  </a:lnTo>
                  <a:lnTo>
                    <a:pt x="3293211" y="2265362"/>
                  </a:lnTo>
                  <a:lnTo>
                    <a:pt x="3287369" y="2270226"/>
                  </a:lnTo>
                  <a:lnTo>
                    <a:pt x="3280943" y="2273706"/>
                  </a:lnTo>
                  <a:lnTo>
                    <a:pt x="3273945" y="2275789"/>
                  </a:lnTo>
                  <a:lnTo>
                    <a:pt x="3266376" y="2276475"/>
                  </a:lnTo>
                  <a:lnTo>
                    <a:pt x="75349" y="2276475"/>
                  </a:lnTo>
                  <a:lnTo>
                    <a:pt x="33007" y="2266861"/>
                  </a:lnTo>
                  <a:lnTo>
                    <a:pt x="1092" y="2234196"/>
                  </a:lnTo>
                  <a:lnTo>
                    <a:pt x="0" y="2230082"/>
                  </a:lnTo>
                  <a:lnTo>
                    <a:pt x="609" y="2234196"/>
                  </a:lnTo>
                  <a:lnTo>
                    <a:pt x="21475" y="2273211"/>
                  </a:lnTo>
                  <a:lnTo>
                    <a:pt x="60515" y="2294090"/>
                  </a:lnTo>
                  <a:lnTo>
                    <a:pt x="75349" y="2295525"/>
                  </a:lnTo>
                  <a:lnTo>
                    <a:pt x="3273933" y="2295525"/>
                  </a:lnTo>
                  <a:lnTo>
                    <a:pt x="3281210" y="2294090"/>
                  </a:lnTo>
                  <a:lnTo>
                    <a:pt x="3295167" y="2288298"/>
                  </a:lnTo>
                  <a:lnTo>
                    <a:pt x="3301339" y="2284184"/>
                  </a:lnTo>
                  <a:lnTo>
                    <a:pt x="3306686" y="2278837"/>
                  </a:lnTo>
                  <a:lnTo>
                    <a:pt x="3307257" y="2278265"/>
                  </a:lnTo>
                  <a:lnTo>
                    <a:pt x="3312033" y="2273490"/>
                  </a:lnTo>
                  <a:lnTo>
                    <a:pt x="3316147" y="2267318"/>
                  </a:lnTo>
                  <a:lnTo>
                    <a:pt x="3321939" y="2253361"/>
                  </a:lnTo>
                  <a:lnTo>
                    <a:pt x="3321989" y="2253094"/>
                  </a:lnTo>
                  <a:lnTo>
                    <a:pt x="3323374" y="2246084"/>
                  </a:lnTo>
                  <a:lnTo>
                    <a:pt x="3323374" y="49441"/>
                  </a:lnTo>
                  <a:close/>
                </a:path>
              </a:pathLst>
            </a:custGeom>
            <a:solidFill>
              <a:srgbClr val="BAC2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52449" y="2505074"/>
              <a:ext cx="76200" cy="2295525"/>
            </a:xfrm>
            <a:custGeom>
              <a:avLst/>
              <a:gdLst/>
              <a:ahLst/>
              <a:cxnLst/>
              <a:rect l="l" t="t" r="r" b="b"/>
              <a:pathLst>
                <a:path w="76200" h="2295525">
                  <a:moveTo>
                    <a:pt x="76200" y="2295524"/>
                  </a:moveTo>
                  <a:lnTo>
                    <a:pt x="31733" y="2289752"/>
                  </a:lnTo>
                  <a:lnTo>
                    <a:pt x="2906" y="2256874"/>
                  </a:lnTo>
                  <a:lnTo>
                    <a:pt x="0" y="2242260"/>
                  </a:lnTo>
                  <a:lnTo>
                    <a:pt x="0" y="2238517"/>
                  </a:lnTo>
                  <a:lnTo>
                    <a:pt x="0" y="53263"/>
                  </a:lnTo>
                  <a:lnTo>
                    <a:pt x="19343" y="14050"/>
                  </a:lnTo>
                  <a:lnTo>
                    <a:pt x="53263" y="0"/>
                  </a:lnTo>
                  <a:lnTo>
                    <a:pt x="76200" y="0"/>
                  </a:lnTo>
                  <a:lnTo>
                    <a:pt x="76200" y="2295524"/>
                  </a:lnTo>
                  <a:close/>
                </a:path>
              </a:pathLst>
            </a:custGeom>
            <a:solidFill>
              <a:srgbClr val="1A2D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796329" y="2668587"/>
            <a:ext cx="2747010" cy="191071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Pandit</a:t>
            </a:r>
            <a:r>
              <a:rPr sz="1650" b="1" spc="10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Ravi</a:t>
            </a:r>
            <a:r>
              <a:rPr sz="1650" b="1" spc="10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Shankar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7000"/>
              </a:lnSpc>
              <a:spcBef>
                <a:spcPts val="490"/>
              </a:spcBef>
            </a:pPr>
            <a:r>
              <a:rPr sz="1250" spc="55" dirty="0">
                <a:solidFill>
                  <a:srgbClr val="3B3434"/>
                </a:solidFill>
                <a:latin typeface="Verdana"/>
                <a:cs typeface="Verdana"/>
              </a:rPr>
              <a:t>Clobal</a:t>
            </a:r>
            <a:r>
              <a:rPr sz="1250" spc="-6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ambassador</a:t>
            </a:r>
            <a:r>
              <a:rPr sz="1250" spc="-6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60" dirty="0">
                <a:solidFill>
                  <a:srgbClr val="3B3434"/>
                </a:solidFill>
                <a:latin typeface="Verdana"/>
                <a:cs typeface="Verdana"/>
              </a:rPr>
              <a:t>of</a:t>
            </a:r>
            <a:r>
              <a:rPr sz="1250" spc="-5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</a:t>
            </a:r>
            <a:r>
              <a:rPr sz="1250" spc="-6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sitar, 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introduced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Indian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classical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music </a:t>
            </a:r>
            <a:r>
              <a:rPr sz="1250" spc="65" dirty="0">
                <a:solidFill>
                  <a:srgbClr val="3B3434"/>
                </a:solidFill>
                <a:latin typeface="Verdana"/>
                <a:cs typeface="Verdana"/>
              </a:rPr>
              <a:t>to</a:t>
            </a:r>
            <a:r>
              <a:rPr sz="1250" spc="-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Western</a:t>
            </a:r>
            <a:r>
              <a:rPr sz="1250" spc="-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audiences</a:t>
            </a:r>
            <a:r>
              <a:rPr sz="1250" spc="-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through </a:t>
            </a:r>
            <a:r>
              <a:rPr sz="1250" spc="20" dirty="0">
                <a:solidFill>
                  <a:srgbClr val="3B3434"/>
                </a:solidFill>
                <a:latin typeface="Verdana"/>
                <a:cs typeface="Verdana"/>
              </a:rPr>
              <a:t>collaborations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20" dirty="0">
                <a:solidFill>
                  <a:srgbClr val="3B3434"/>
                </a:solidFill>
                <a:latin typeface="Verdana"/>
                <a:cs typeface="Verdana"/>
              </a:rPr>
              <a:t>with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50" dirty="0">
                <a:solidFill>
                  <a:srgbClr val="3B3434"/>
                </a:solidFill>
                <a:latin typeface="Verdana"/>
                <a:cs typeface="Verdana"/>
              </a:rPr>
              <a:t>Ceorge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Harrison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performances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at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major</a:t>
            </a:r>
            <a:r>
              <a:rPr sz="1250" spc="-8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festivals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worldwide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038599" y="2505074"/>
            <a:ext cx="3333750" cy="2295525"/>
            <a:chOff x="4038599" y="2505074"/>
            <a:chExt cx="3333750" cy="2295525"/>
          </a:xfrm>
        </p:grpSpPr>
        <p:sp>
          <p:nvSpPr>
            <p:cNvPr id="10" name="object 10"/>
            <p:cNvSpPr/>
            <p:nvPr/>
          </p:nvSpPr>
          <p:spPr>
            <a:xfrm>
              <a:off x="4057649" y="2514599"/>
              <a:ext cx="3305175" cy="2276475"/>
            </a:xfrm>
            <a:custGeom>
              <a:avLst/>
              <a:gdLst/>
              <a:ahLst/>
              <a:cxnLst/>
              <a:rect l="l" t="t" r="r" b="b"/>
              <a:pathLst>
                <a:path w="3305175" h="2276475">
                  <a:moveTo>
                    <a:pt x="3263988" y="2276474"/>
                  </a:moveTo>
                  <a:lnTo>
                    <a:pt x="71196" y="2276474"/>
                  </a:lnTo>
                  <a:lnTo>
                    <a:pt x="66241" y="2276047"/>
                  </a:lnTo>
                  <a:lnTo>
                    <a:pt x="29705" y="2262805"/>
                  </a:lnTo>
                  <a:lnTo>
                    <a:pt x="3885" y="2231269"/>
                  </a:lnTo>
                  <a:lnTo>
                    <a:pt x="0" y="2214177"/>
                  </a:lnTo>
                  <a:lnTo>
                    <a:pt x="0" y="2209799"/>
                  </a:lnTo>
                  <a:lnTo>
                    <a:pt x="0" y="62296"/>
                  </a:lnTo>
                  <a:lnTo>
                    <a:pt x="15621" y="25992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3263988" y="0"/>
                  </a:lnTo>
                  <a:lnTo>
                    <a:pt x="3299150" y="23493"/>
                  </a:lnTo>
                  <a:lnTo>
                    <a:pt x="3305174" y="41185"/>
                  </a:lnTo>
                  <a:lnTo>
                    <a:pt x="3305174" y="2235289"/>
                  </a:lnTo>
                  <a:lnTo>
                    <a:pt x="3281679" y="2270450"/>
                  </a:lnTo>
                  <a:lnTo>
                    <a:pt x="3270045" y="2275269"/>
                  </a:lnTo>
                  <a:lnTo>
                    <a:pt x="3263988" y="2276474"/>
                  </a:lnTo>
                  <a:close/>
                </a:path>
              </a:pathLst>
            </a:custGeom>
            <a:solidFill>
              <a:srgbClr val="FF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058488" y="2505074"/>
              <a:ext cx="3314065" cy="2295525"/>
            </a:xfrm>
            <a:custGeom>
              <a:avLst/>
              <a:gdLst/>
              <a:ahLst/>
              <a:cxnLst/>
              <a:rect l="l" t="t" r="r" b="b"/>
              <a:pathLst>
                <a:path w="3314065" h="2295525">
                  <a:moveTo>
                    <a:pt x="3313849" y="49441"/>
                  </a:moveTo>
                  <a:lnTo>
                    <a:pt x="3312414" y="42176"/>
                  </a:lnTo>
                  <a:lnTo>
                    <a:pt x="3306622" y="28206"/>
                  </a:lnTo>
                  <a:lnTo>
                    <a:pt x="3302508" y="22047"/>
                  </a:lnTo>
                  <a:lnTo>
                    <a:pt x="3297631" y="17183"/>
                  </a:lnTo>
                  <a:lnTo>
                    <a:pt x="3297161" y="16700"/>
                  </a:lnTo>
                  <a:lnTo>
                    <a:pt x="3291814" y="11353"/>
                  </a:lnTo>
                  <a:lnTo>
                    <a:pt x="3285642" y="7239"/>
                  </a:lnTo>
                  <a:lnTo>
                    <a:pt x="3271685" y="1460"/>
                  </a:lnTo>
                  <a:lnTo>
                    <a:pt x="3264408" y="0"/>
                  </a:lnTo>
                  <a:lnTo>
                    <a:pt x="75349" y="0"/>
                  </a:lnTo>
                  <a:lnTo>
                    <a:pt x="33007" y="12839"/>
                  </a:lnTo>
                  <a:lnTo>
                    <a:pt x="4953" y="47040"/>
                  </a:lnTo>
                  <a:lnTo>
                    <a:pt x="4851" y="47332"/>
                  </a:lnTo>
                  <a:lnTo>
                    <a:pt x="2413" y="54114"/>
                  </a:lnTo>
                  <a:lnTo>
                    <a:pt x="609" y="61341"/>
                  </a:lnTo>
                  <a:lnTo>
                    <a:pt x="0" y="65455"/>
                  </a:lnTo>
                  <a:lnTo>
                    <a:pt x="1092" y="61341"/>
                  </a:lnTo>
                  <a:lnTo>
                    <a:pt x="8826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3256851" y="19050"/>
                  </a:lnTo>
                  <a:lnTo>
                    <a:pt x="3284118" y="30695"/>
                  </a:lnTo>
                  <a:lnTo>
                    <a:pt x="3288550" y="36017"/>
                  </a:lnTo>
                  <a:lnTo>
                    <a:pt x="3292030" y="42443"/>
                  </a:lnTo>
                  <a:lnTo>
                    <a:pt x="3294113" y="49441"/>
                  </a:lnTo>
                  <a:lnTo>
                    <a:pt x="3294799" y="57010"/>
                  </a:lnTo>
                  <a:lnTo>
                    <a:pt x="3294799" y="2238527"/>
                  </a:lnTo>
                  <a:lnTo>
                    <a:pt x="3294113" y="2246084"/>
                  </a:lnTo>
                  <a:lnTo>
                    <a:pt x="3292030" y="2253094"/>
                  </a:lnTo>
                  <a:lnTo>
                    <a:pt x="3288550" y="2259520"/>
                  </a:lnTo>
                  <a:lnTo>
                    <a:pt x="3284118" y="2264841"/>
                  </a:lnTo>
                  <a:lnTo>
                    <a:pt x="3283686" y="2265362"/>
                  </a:lnTo>
                  <a:lnTo>
                    <a:pt x="3277844" y="2270226"/>
                  </a:lnTo>
                  <a:lnTo>
                    <a:pt x="3271418" y="2273706"/>
                  </a:lnTo>
                  <a:lnTo>
                    <a:pt x="3264420" y="2275789"/>
                  </a:lnTo>
                  <a:lnTo>
                    <a:pt x="3256851" y="2276475"/>
                  </a:lnTo>
                  <a:lnTo>
                    <a:pt x="75349" y="2276475"/>
                  </a:lnTo>
                  <a:lnTo>
                    <a:pt x="33007" y="2266861"/>
                  </a:lnTo>
                  <a:lnTo>
                    <a:pt x="1092" y="2234196"/>
                  </a:lnTo>
                  <a:lnTo>
                    <a:pt x="0" y="2230082"/>
                  </a:lnTo>
                  <a:lnTo>
                    <a:pt x="609" y="2234196"/>
                  </a:lnTo>
                  <a:lnTo>
                    <a:pt x="21475" y="2273211"/>
                  </a:lnTo>
                  <a:lnTo>
                    <a:pt x="60502" y="2294090"/>
                  </a:lnTo>
                  <a:lnTo>
                    <a:pt x="75349" y="2295525"/>
                  </a:lnTo>
                  <a:lnTo>
                    <a:pt x="3264408" y="2295525"/>
                  </a:lnTo>
                  <a:lnTo>
                    <a:pt x="3271685" y="2294090"/>
                  </a:lnTo>
                  <a:lnTo>
                    <a:pt x="3285642" y="2288298"/>
                  </a:lnTo>
                  <a:lnTo>
                    <a:pt x="3291814" y="2284184"/>
                  </a:lnTo>
                  <a:lnTo>
                    <a:pt x="3297161" y="2278837"/>
                  </a:lnTo>
                  <a:lnTo>
                    <a:pt x="3297732" y="2278265"/>
                  </a:lnTo>
                  <a:lnTo>
                    <a:pt x="3302508" y="2273490"/>
                  </a:lnTo>
                  <a:lnTo>
                    <a:pt x="3306622" y="2267318"/>
                  </a:lnTo>
                  <a:lnTo>
                    <a:pt x="3312414" y="2253361"/>
                  </a:lnTo>
                  <a:lnTo>
                    <a:pt x="3312464" y="2253094"/>
                  </a:lnTo>
                  <a:lnTo>
                    <a:pt x="3313849" y="2246084"/>
                  </a:lnTo>
                  <a:lnTo>
                    <a:pt x="3313849" y="49441"/>
                  </a:lnTo>
                  <a:close/>
                </a:path>
              </a:pathLst>
            </a:custGeom>
            <a:solidFill>
              <a:srgbClr val="BAC2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038599" y="2505074"/>
              <a:ext cx="76200" cy="2295525"/>
            </a:xfrm>
            <a:custGeom>
              <a:avLst/>
              <a:gdLst/>
              <a:ahLst/>
              <a:cxnLst/>
              <a:rect l="l" t="t" r="r" b="b"/>
              <a:pathLst>
                <a:path w="76200" h="2295525">
                  <a:moveTo>
                    <a:pt x="76200" y="2295524"/>
                  </a:moveTo>
                  <a:lnTo>
                    <a:pt x="31732" y="2289752"/>
                  </a:lnTo>
                  <a:lnTo>
                    <a:pt x="2906" y="2256874"/>
                  </a:lnTo>
                  <a:lnTo>
                    <a:pt x="0" y="2242260"/>
                  </a:lnTo>
                  <a:lnTo>
                    <a:pt x="0" y="2238517"/>
                  </a:lnTo>
                  <a:lnTo>
                    <a:pt x="0" y="53263"/>
                  </a:lnTo>
                  <a:lnTo>
                    <a:pt x="19343" y="14050"/>
                  </a:lnTo>
                  <a:lnTo>
                    <a:pt x="53263" y="0"/>
                  </a:lnTo>
                  <a:lnTo>
                    <a:pt x="76200" y="0"/>
                  </a:lnTo>
                  <a:lnTo>
                    <a:pt x="76200" y="2295524"/>
                  </a:lnTo>
                  <a:close/>
                </a:path>
              </a:pathLst>
            </a:custGeom>
            <a:solidFill>
              <a:srgbClr val="1A2D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80544" y="2668587"/>
            <a:ext cx="2914015" cy="165353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Ustad</a:t>
            </a:r>
            <a:r>
              <a:rPr sz="1650" b="1" spc="114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Vilayat</a:t>
            </a:r>
            <a:r>
              <a:rPr sz="1650" b="1" spc="120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40" dirty="0">
                <a:solidFill>
                  <a:srgbClr val="3B3434"/>
                </a:solidFill>
                <a:latin typeface="Tahoma"/>
                <a:cs typeface="Tahoma"/>
              </a:rPr>
              <a:t>Khan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7500"/>
              </a:lnSpc>
              <a:spcBef>
                <a:spcPts val="484"/>
              </a:spcBef>
            </a:pP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Revolutionised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sitar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technique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with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his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gayaki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ang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style,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mimicking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the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human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voice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with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extraordinary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expressiveness</a:t>
            </a:r>
            <a:r>
              <a:rPr sz="1250" spc="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emotional 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depth</a:t>
            </a:r>
            <a:endParaRPr sz="1250">
              <a:latin typeface="Verdana"/>
              <a:cs typeface="Verdan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7515224" y="2505074"/>
            <a:ext cx="3343275" cy="2295525"/>
            <a:chOff x="7515224" y="2505074"/>
            <a:chExt cx="3343275" cy="2295525"/>
          </a:xfrm>
        </p:grpSpPr>
        <p:sp>
          <p:nvSpPr>
            <p:cNvPr id="15" name="object 15"/>
            <p:cNvSpPr/>
            <p:nvPr/>
          </p:nvSpPr>
          <p:spPr>
            <a:xfrm>
              <a:off x="7534274" y="2514599"/>
              <a:ext cx="3314700" cy="2276475"/>
            </a:xfrm>
            <a:custGeom>
              <a:avLst/>
              <a:gdLst/>
              <a:ahLst/>
              <a:cxnLst/>
              <a:rect l="l" t="t" r="r" b="b"/>
              <a:pathLst>
                <a:path w="3314700" h="2276475">
                  <a:moveTo>
                    <a:pt x="3273513" y="2276474"/>
                  </a:moveTo>
                  <a:lnTo>
                    <a:pt x="71196" y="2276474"/>
                  </a:lnTo>
                  <a:lnTo>
                    <a:pt x="66240" y="2276047"/>
                  </a:lnTo>
                  <a:lnTo>
                    <a:pt x="29705" y="2262805"/>
                  </a:lnTo>
                  <a:lnTo>
                    <a:pt x="3885" y="2231269"/>
                  </a:lnTo>
                  <a:lnTo>
                    <a:pt x="0" y="2209799"/>
                  </a:lnTo>
                  <a:lnTo>
                    <a:pt x="0" y="62296"/>
                  </a:lnTo>
                  <a:lnTo>
                    <a:pt x="15621" y="25992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3273513" y="0"/>
                  </a:lnTo>
                  <a:lnTo>
                    <a:pt x="3308673" y="23493"/>
                  </a:lnTo>
                  <a:lnTo>
                    <a:pt x="3314698" y="41185"/>
                  </a:lnTo>
                  <a:lnTo>
                    <a:pt x="3314698" y="2235289"/>
                  </a:lnTo>
                  <a:lnTo>
                    <a:pt x="3291203" y="2270450"/>
                  </a:lnTo>
                  <a:lnTo>
                    <a:pt x="3273513" y="2276474"/>
                  </a:lnTo>
                  <a:close/>
                </a:path>
              </a:pathLst>
            </a:custGeom>
            <a:solidFill>
              <a:srgbClr val="FF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535113" y="2505074"/>
              <a:ext cx="3323590" cy="2295525"/>
            </a:xfrm>
            <a:custGeom>
              <a:avLst/>
              <a:gdLst/>
              <a:ahLst/>
              <a:cxnLst/>
              <a:rect l="l" t="t" r="r" b="b"/>
              <a:pathLst>
                <a:path w="3323590" h="2295525">
                  <a:moveTo>
                    <a:pt x="3323374" y="49441"/>
                  </a:moveTo>
                  <a:lnTo>
                    <a:pt x="3321926" y="42176"/>
                  </a:lnTo>
                  <a:lnTo>
                    <a:pt x="3316147" y="28206"/>
                  </a:lnTo>
                  <a:lnTo>
                    <a:pt x="3312033" y="22047"/>
                  </a:lnTo>
                  <a:lnTo>
                    <a:pt x="3307156" y="17183"/>
                  </a:lnTo>
                  <a:lnTo>
                    <a:pt x="3306686" y="16700"/>
                  </a:lnTo>
                  <a:lnTo>
                    <a:pt x="3301339" y="11353"/>
                  </a:lnTo>
                  <a:lnTo>
                    <a:pt x="3295167" y="7239"/>
                  </a:lnTo>
                  <a:lnTo>
                    <a:pt x="3281210" y="1460"/>
                  </a:lnTo>
                  <a:lnTo>
                    <a:pt x="3273933" y="0"/>
                  </a:lnTo>
                  <a:lnTo>
                    <a:pt x="75349" y="0"/>
                  </a:lnTo>
                  <a:lnTo>
                    <a:pt x="33007" y="12839"/>
                  </a:lnTo>
                  <a:lnTo>
                    <a:pt x="4953" y="47040"/>
                  </a:lnTo>
                  <a:lnTo>
                    <a:pt x="4851" y="47332"/>
                  </a:lnTo>
                  <a:lnTo>
                    <a:pt x="2413" y="54114"/>
                  </a:lnTo>
                  <a:lnTo>
                    <a:pt x="609" y="61341"/>
                  </a:lnTo>
                  <a:lnTo>
                    <a:pt x="0" y="65455"/>
                  </a:lnTo>
                  <a:lnTo>
                    <a:pt x="1092" y="61341"/>
                  </a:lnTo>
                  <a:lnTo>
                    <a:pt x="8826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3266376" y="19050"/>
                  </a:lnTo>
                  <a:lnTo>
                    <a:pt x="3293643" y="30695"/>
                  </a:lnTo>
                  <a:lnTo>
                    <a:pt x="3298075" y="36017"/>
                  </a:lnTo>
                  <a:lnTo>
                    <a:pt x="3301555" y="42443"/>
                  </a:lnTo>
                  <a:lnTo>
                    <a:pt x="3303638" y="49441"/>
                  </a:lnTo>
                  <a:lnTo>
                    <a:pt x="3304324" y="57010"/>
                  </a:lnTo>
                  <a:lnTo>
                    <a:pt x="3304324" y="2238527"/>
                  </a:lnTo>
                  <a:lnTo>
                    <a:pt x="3303638" y="2246084"/>
                  </a:lnTo>
                  <a:lnTo>
                    <a:pt x="3301555" y="2253094"/>
                  </a:lnTo>
                  <a:lnTo>
                    <a:pt x="3298075" y="2259520"/>
                  </a:lnTo>
                  <a:lnTo>
                    <a:pt x="3293643" y="2264841"/>
                  </a:lnTo>
                  <a:lnTo>
                    <a:pt x="3293211" y="2265362"/>
                  </a:lnTo>
                  <a:lnTo>
                    <a:pt x="3287369" y="2270226"/>
                  </a:lnTo>
                  <a:lnTo>
                    <a:pt x="3280943" y="2273706"/>
                  </a:lnTo>
                  <a:lnTo>
                    <a:pt x="3273945" y="2275789"/>
                  </a:lnTo>
                  <a:lnTo>
                    <a:pt x="3266376" y="2276475"/>
                  </a:lnTo>
                  <a:lnTo>
                    <a:pt x="75349" y="2276475"/>
                  </a:lnTo>
                  <a:lnTo>
                    <a:pt x="33007" y="2266861"/>
                  </a:lnTo>
                  <a:lnTo>
                    <a:pt x="1092" y="2234196"/>
                  </a:lnTo>
                  <a:lnTo>
                    <a:pt x="0" y="2230082"/>
                  </a:lnTo>
                  <a:lnTo>
                    <a:pt x="609" y="2234196"/>
                  </a:lnTo>
                  <a:lnTo>
                    <a:pt x="21475" y="2273211"/>
                  </a:lnTo>
                  <a:lnTo>
                    <a:pt x="60502" y="2294090"/>
                  </a:lnTo>
                  <a:lnTo>
                    <a:pt x="75349" y="2295525"/>
                  </a:lnTo>
                  <a:lnTo>
                    <a:pt x="3273933" y="2295525"/>
                  </a:lnTo>
                  <a:lnTo>
                    <a:pt x="3281197" y="2294090"/>
                  </a:lnTo>
                  <a:lnTo>
                    <a:pt x="3295167" y="2288298"/>
                  </a:lnTo>
                  <a:lnTo>
                    <a:pt x="3301339" y="2284184"/>
                  </a:lnTo>
                  <a:lnTo>
                    <a:pt x="3306686" y="2278837"/>
                  </a:lnTo>
                  <a:lnTo>
                    <a:pt x="3307257" y="2278265"/>
                  </a:lnTo>
                  <a:lnTo>
                    <a:pt x="3323374" y="2246084"/>
                  </a:lnTo>
                  <a:lnTo>
                    <a:pt x="3323374" y="49441"/>
                  </a:lnTo>
                  <a:close/>
                </a:path>
              </a:pathLst>
            </a:custGeom>
            <a:solidFill>
              <a:srgbClr val="BAC2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515224" y="2505074"/>
              <a:ext cx="76200" cy="2295525"/>
            </a:xfrm>
            <a:custGeom>
              <a:avLst/>
              <a:gdLst/>
              <a:ahLst/>
              <a:cxnLst/>
              <a:rect l="l" t="t" r="r" b="b"/>
              <a:pathLst>
                <a:path w="76200" h="2295525">
                  <a:moveTo>
                    <a:pt x="76199" y="2295524"/>
                  </a:moveTo>
                  <a:lnTo>
                    <a:pt x="31731" y="2289752"/>
                  </a:lnTo>
                  <a:lnTo>
                    <a:pt x="2906" y="2256874"/>
                  </a:lnTo>
                  <a:lnTo>
                    <a:pt x="0" y="2242260"/>
                  </a:lnTo>
                  <a:lnTo>
                    <a:pt x="0" y="2238517"/>
                  </a:lnTo>
                  <a:lnTo>
                    <a:pt x="0" y="53263"/>
                  </a:lnTo>
                  <a:lnTo>
                    <a:pt x="19342" y="14050"/>
                  </a:lnTo>
                  <a:lnTo>
                    <a:pt x="53263" y="0"/>
                  </a:lnTo>
                  <a:lnTo>
                    <a:pt x="76199" y="0"/>
                  </a:lnTo>
                  <a:lnTo>
                    <a:pt x="76199" y="2295524"/>
                  </a:lnTo>
                  <a:close/>
                </a:path>
              </a:pathLst>
            </a:custGeom>
            <a:solidFill>
              <a:srgbClr val="1A2D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7764760" y="2668587"/>
            <a:ext cx="2919730" cy="13868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Dr.</a:t>
            </a:r>
            <a:r>
              <a:rPr sz="1650" b="1" spc="-70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3B3434"/>
                </a:solidFill>
                <a:latin typeface="Tahoma"/>
                <a:cs typeface="Tahoma"/>
              </a:rPr>
              <a:t>E.</a:t>
            </a:r>
            <a:r>
              <a:rPr sz="1650" b="1" spc="-65" dirty="0">
                <a:solidFill>
                  <a:srgbClr val="3B3434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3B3434"/>
                </a:solidFill>
                <a:latin typeface="Tahoma"/>
                <a:cs typeface="Tahoma"/>
              </a:rPr>
              <a:t>Gayathri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6700"/>
              </a:lnSpc>
              <a:spcBef>
                <a:spcPts val="495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Contemporary</a:t>
            </a:r>
            <a:r>
              <a:rPr sz="1250" spc="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veena</a:t>
            </a:r>
            <a:r>
              <a:rPr sz="1250" spc="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virtuoso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preserving</a:t>
            </a:r>
            <a:r>
              <a:rPr sz="1250" spc="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Carnatic</a:t>
            </a:r>
            <a:r>
              <a:rPr sz="1250" spc="4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tradition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whilst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innovating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with</a:t>
            </a:r>
            <a:r>
              <a:rPr sz="1250" spc="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new</a:t>
            </a:r>
            <a:r>
              <a:rPr sz="1250" spc="1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45" dirty="0">
                <a:solidFill>
                  <a:srgbClr val="3B3434"/>
                </a:solidFill>
                <a:latin typeface="Verdana"/>
                <a:cs typeface="Verdana"/>
              </a:rPr>
              <a:t>compositions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international</a:t>
            </a:r>
            <a:r>
              <a:rPr sz="1250" spc="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performances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063605" cy="6435725"/>
          </a:xfrm>
          <a:custGeom>
            <a:avLst/>
            <a:gdLst/>
            <a:ahLst/>
            <a:cxnLst/>
            <a:rect l="l" t="t" r="r" b="b"/>
            <a:pathLst>
              <a:path w="11063605" h="6435725">
                <a:moveTo>
                  <a:pt x="11063486" y="0"/>
                </a:moveTo>
                <a:lnTo>
                  <a:pt x="0" y="0"/>
                </a:lnTo>
                <a:lnTo>
                  <a:pt x="0" y="6435261"/>
                </a:lnTo>
                <a:lnTo>
                  <a:pt x="11063486" y="6435261"/>
                </a:lnTo>
                <a:lnTo>
                  <a:pt x="11063486" y="0"/>
                </a:lnTo>
                <a:close/>
              </a:path>
            </a:pathLst>
          </a:custGeom>
          <a:solidFill>
            <a:srgbClr val="FF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14678" y="245"/>
            <a:ext cx="4148807" cy="643501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9033" y="411400"/>
            <a:ext cx="5240655" cy="5238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250" spc="75" dirty="0"/>
              <a:t>Echoes</a:t>
            </a:r>
            <a:r>
              <a:rPr sz="3250" spc="-15" dirty="0"/>
              <a:t> </a:t>
            </a:r>
            <a:r>
              <a:rPr sz="3250" dirty="0"/>
              <a:t>Across</a:t>
            </a:r>
            <a:r>
              <a:rPr sz="3250" spc="-15" dirty="0"/>
              <a:t> </a:t>
            </a:r>
            <a:r>
              <a:rPr sz="3250" spc="50" dirty="0"/>
              <a:t>the</a:t>
            </a:r>
            <a:r>
              <a:rPr sz="3250" spc="-15" dirty="0"/>
              <a:t> </a:t>
            </a:r>
            <a:r>
              <a:rPr sz="3250" spc="40" dirty="0"/>
              <a:t>World</a:t>
            </a:r>
            <a:endParaRPr sz="3250"/>
          </a:p>
        </p:txBody>
      </p:sp>
      <p:sp>
        <p:nvSpPr>
          <p:cNvPr id="7" name="object 7"/>
          <p:cNvSpPr txBox="1"/>
          <p:nvPr/>
        </p:nvSpPr>
        <p:spPr>
          <a:xfrm>
            <a:off x="763334" y="1181879"/>
            <a:ext cx="2383790" cy="1628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4100" b="1" spc="-50" dirty="0">
                <a:solidFill>
                  <a:srgbClr val="3B3434"/>
                </a:solidFill>
                <a:latin typeface="Tahoma"/>
                <a:cs typeface="Tahoma"/>
              </a:rPr>
              <a:t>6</a:t>
            </a:r>
            <a:endParaRPr sz="41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280"/>
              </a:spcBef>
            </a:pPr>
            <a:r>
              <a:rPr sz="1600" b="1" spc="-10" dirty="0">
                <a:solidFill>
                  <a:srgbClr val="3B3434"/>
                </a:solidFill>
                <a:latin typeface="Tahoma"/>
                <a:cs typeface="Tahoma"/>
              </a:rPr>
              <a:t>Continents</a:t>
            </a:r>
            <a:endParaRPr sz="1600">
              <a:latin typeface="Tahoma"/>
              <a:cs typeface="Tahoma"/>
            </a:endParaRPr>
          </a:p>
          <a:p>
            <a:pPr marL="12700" marR="5080" algn="ctr">
              <a:lnSpc>
                <a:spcPct val="130700"/>
              </a:lnSpc>
              <a:spcBef>
                <a:spcPts val="585"/>
              </a:spcBef>
            </a:pP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Where</a:t>
            </a:r>
            <a:r>
              <a:rPr sz="1250" spc="-114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these</a:t>
            </a:r>
            <a:r>
              <a:rPr sz="1250" spc="-114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instruments</a:t>
            </a:r>
            <a:r>
              <a:rPr sz="1250" spc="-11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5" dirty="0">
                <a:solidFill>
                  <a:srgbClr val="3B3434"/>
                </a:solidFill>
                <a:latin typeface="Verdana"/>
                <a:cs typeface="Verdana"/>
              </a:rPr>
              <a:t>now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inspire</a:t>
            </a:r>
            <a:r>
              <a:rPr sz="1250" spc="-9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musicians</a:t>
            </a:r>
            <a:endParaRPr sz="1250">
              <a:latin typeface="Verdana"/>
              <a:cs typeface="Verdan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2829" y="1181879"/>
            <a:ext cx="2813050" cy="1628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4100" b="1" spc="-475" dirty="0">
                <a:solidFill>
                  <a:srgbClr val="3B3434"/>
                </a:solidFill>
                <a:latin typeface="Tahoma"/>
                <a:cs typeface="Tahoma"/>
              </a:rPr>
              <a:t>100+</a:t>
            </a:r>
            <a:endParaRPr sz="41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280"/>
              </a:spcBef>
            </a:pPr>
            <a:r>
              <a:rPr sz="1600" b="1" spc="-10" dirty="0">
                <a:solidFill>
                  <a:srgbClr val="3B3434"/>
                </a:solidFill>
                <a:latin typeface="Tahoma"/>
                <a:cs typeface="Tahoma"/>
              </a:rPr>
              <a:t>Collaborations</a:t>
            </a:r>
            <a:endParaRPr sz="1600">
              <a:latin typeface="Tahoma"/>
              <a:cs typeface="Tahoma"/>
            </a:endParaRPr>
          </a:p>
          <a:p>
            <a:pPr marL="12700" marR="5080" algn="ctr">
              <a:lnSpc>
                <a:spcPct val="130700"/>
              </a:lnSpc>
              <a:spcBef>
                <a:spcPts val="585"/>
              </a:spcBef>
            </a:pP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Cross-</a:t>
            </a:r>
            <a:r>
              <a:rPr sz="1250" spc="-10" dirty="0">
                <a:solidFill>
                  <a:srgbClr val="3B3434"/>
                </a:solidFill>
                <a:latin typeface="Verdana"/>
                <a:cs typeface="Verdana"/>
              </a:rPr>
              <a:t>genre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fusions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with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80" dirty="0">
                <a:solidFill>
                  <a:srgbClr val="3B3434"/>
                </a:solidFill>
                <a:latin typeface="Verdana"/>
                <a:cs typeface="Verdana"/>
              </a:rPr>
              <a:t>jazz,</a:t>
            </a:r>
            <a:r>
              <a:rPr sz="1250" spc="-6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rock,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and</a:t>
            </a:r>
            <a:r>
              <a:rPr sz="1250" spc="-35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dirty="0">
                <a:solidFill>
                  <a:srgbClr val="3B3434"/>
                </a:solidFill>
                <a:latin typeface="Verdana"/>
                <a:cs typeface="Verdana"/>
              </a:rPr>
              <a:t>electronic</a:t>
            </a:r>
            <a:r>
              <a:rPr sz="1250" spc="-30" dirty="0">
                <a:solidFill>
                  <a:srgbClr val="3B3434"/>
                </a:solidFill>
                <a:latin typeface="Verdana"/>
                <a:cs typeface="Verdana"/>
              </a:rPr>
              <a:t> </a:t>
            </a:r>
            <a:r>
              <a:rPr sz="1250" spc="-20" dirty="0">
                <a:solidFill>
                  <a:srgbClr val="3B3434"/>
                </a:solidFill>
                <a:latin typeface="Verdana"/>
                <a:cs typeface="Verdana"/>
              </a:rPr>
              <a:t>music</a:t>
            </a:r>
            <a:endParaRPr sz="1250">
              <a:latin typeface="Verdana"/>
              <a:cs typeface="Verdana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8270" algn="ctr">
              <a:lnSpc>
                <a:spcPct val="100000"/>
              </a:lnSpc>
              <a:spcBef>
                <a:spcPts val="95"/>
              </a:spcBef>
            </a:pPr>
            <a:r>
              <a:rPr spc="130" dirty="0"/>
              <a:t>500M</a:t>
            </a:r>
          </a:p>
          <a:p>
            <a:pPr marL="128270" algn="ctr">
              <a:lnSpc>
                <a:spcPct val="100000"/>
              </a:lnSpc>
              <a:spcBef>
                <a:spcPts val="1355"/>
              </a:spcBef>
            </a:pPr>
            <a:r>
              <a:rPr sz="1600" spc="-10" dirty="0"/>
              <a:t>Listeners</a:t>
            </a:r>
            <a:endParaRPr sz="1600"/>
          </a:p>
          <a:p>
            <a:pPr marL="1526540" marR="1390650" algn="ctr">
              <a:lnSpc>
                <a:spcPct val="135500"/>
              </a:lnSpc>
              <a:spcBef>
                <a:spcPts val="439"/>
              </a:spcBef>
            </a:pPr>
            <a:r>
              <a:rPr sz="1250" b="0" dirty="0">
                <a:latin typeface="Verdana"/>
                <a:cs typeface="Verdana"/>
              </a:rPr>
              <a:t>Estimated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global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audience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reached annually</a:t>
            </a:r>
            <a:endParaRPr sz="1250">
              <a:latin typeface="Verdana"/>
              <a:cs typeface="Verdana"/>
            </a:endParaRPr>
          </a:p>
          <a:p>
            <a:pPr marL="12700" marR="5080">
              <a:lnSpc>
                <a:spcPct val="132300"/>
              </a:lnSpc>
              <a:spcBef>
                <a:spcPts val="1355"/>
              </a:spcBef>
            </a:pPr>
            <a:r>
              <a:rPr sz="1250" b="0" spc="-25" dirty="0">
                <a:latin typeface="Verdana"/>
                <a:cs typeface="Verdana"/>
              </a:rPr>
              <a:t>The</a:t>
            </a:r>
            <a:r>
              <a:rPr sz="1250" b="0" spc="-110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sitar</a:t>
            </a:r>
            <a:r>
              <a:rPr sz="1250" b="0" spc="-10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and</a:t>
            </a:r>
            <a:r>
              <a:rPr sz="1250" b="0" spc="-105" dirty="0">
                <a:latin typeface="Verdana"/>
                <a:cs typeface="Verdana"/>
              </a:rPr>
              <a:t> </a:t>
            </a:r>
            <a:r>
              <a:rPr sz="1250" b="0" spc="-35" dirty="0">
                <a:latin typeface="Verdana"/>
                <a:cs typeface="Verdana"/>
              </a:rPr>
              <a:t>veena</a:t>
            </a:r>
            <a:r>
              <a:rPr sz="1250" b="0" spc="-10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continue</a:t>
            </a:r>
            <a:r>
              <a:rPr sz="1250" b="0" spc="-10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to</a:t>
            </a:r>
            <a:r>
              <a:rPr sz="1250" b="0" spc="-11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enchant</a:t>
            </a:r>
            <a:r>
              <a:rPr sz="1250" b="0" spc="-105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new</a:t>
            </a:r>
            <a:r>
              <a:rPr sz="1250" b="0" spc="-105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generations,</a:t>
            </a:r>
            <a:r>
              <a:rPr sz="1250" b="0" spc="-105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bridging </a:t>
            </a:r>
            <a:r>
              <a:rPr sz="1250" b="0" dirty="0">
                <a:latin typeface="Verdana"/>
                <a:cs typeface="Verdana"/>
              </a:rPr>
              <a:t>ancient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wisdom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with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contemporary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spc="-30" dirty="0">
                <a:latin typeface="Verdana"/>
                <a:cs typeface="Verdana"/>
              </a:rPr>
              <a:t>creativity.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spc="-20" dirty="0">
                <a:latin typeface="Verdana"/>
                <a:cs typeface="Verdana"/>
              </a:rPr>
              <a:t>Their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strings</a:t>
            </a:r>
            <a:r>
              <a:rPr sz="1250" b="0" spc="-85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resonate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spc="-25" dirty="0">
                <a:latin typeface="Verdana"/>
                <a:cs typeface="Verdana"/>
              </a:rPr>
              <a:t>not </a:t>
            </a:r>
            <a:r>
              <a:rPr sz="1250" b="0" spc="-35" dirty="0">
                <a:latin typeface="Verdana"/>
                <a:cs typeface="Verdana"/>
              </a:rPr>
              <a:t>merely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spc="-30" dirty="0">
                <a:latin typeface="Verdana"/>
                <a:cs typeface="Verdana"/>
              </a:rPr>
              <a:t>as</a:t>
            </a:r>
            <a:r>
              <a:rPr sz="1250" b="0" spc="-75" dirty="0">
                <a:latin typeface="Verdana"/>
                <a:cs typeface="Verdana"/>
              </a:rPr>
              <a:t> </a:t>
            </a:r>
            <a:r>
              <a:rPr sz="1250" b="0" spc="-20" dirty="0">
                <a:latin typeface="Verdana"/>
                <a:cs typeface="Verdana"/>
              </a:rPr>
              <a:t>instruments,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but</a:t>
            </a:r>
            <a:r>
              <a:rPr sz="1250" b="0" spc="-75" dirty="0">
                <a:latin typeface="Verdana"/>
                <a:cs typeface="Verdana"/>
              </a:rPr>
              <a:t> </a:t>
            </a:r>
            <a:r>
              <a:rPr sz="1250" b="0" spc="-30" dirty="0">
                <a:latin typeface="Verdana"/>
                <a:cs typeface="Verdana"/>
              </a:rPr>
              <a:t>as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living</a:t>
            </a:r>
            <a:r>
              <a:rPr sz="1250" b="0" spc="-7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conduits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of</a:t>
            </a:r>
            <a:r>
              <a:rPr sz="1250" b="0" spc="-75" dirty="0">
                <a:latin typeface="Verdana"/>
                <a:cs typeface="Verdana"/>
              </a:rPr>
              <a:t> </a:t>
            </a:r>
            <a:r>
              <a:rPr sz="1250" b="0" spc="-35" dirty="0">
                <a:latin typeface="Verdana"/>
                <a:cs typeface="Verdana"/>
              </a:rPr>
              <a:t>India's</a:t>
            </a:r>
            <a:r>
              <a:rPr sz="1250" b="0" spc="-8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profound</a:t>
            </a:r>
            <a:r>
              <a:rPr sz="1250" b="0" spc="-75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musical </a:t>
            </a:r>
            <a:r>
              <a:rPr sz="1250" b="0" spc="-25" dirty="0">
                <a:latin typeface="Verdana"/>
                <a:cs typeface="Verdana"/>
              </a:rPr>
              <a:t>heritage,</a:t>
            </a:r>
            <a:r>
              <a:rPr sz="1250" b="0" spc="-95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ensuring</a:t>
            </a:r>
            <a:r>
              <a:rPr sz="1250" b="0" spc="-9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timeless</a:t>
            </a:r>
            <a:r>
              <a:rPr sz="1250" b="0" spc="-9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melodies</a:t>
            </a:r>
            <a:r>
              <a:rPr sz="1250" b="0" spc="-90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endure</a:t>
            </a:r>
            <a:r>
              <a:rPr sz="1250" b="0" spc="-9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for</a:t>
            </a:r>
            <a:r>
              <a:rPr sz="1250" b="0" spc="-95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centuries</a:t>
            </a:r>
            <a:r>
              <a:rPr sz="1250" b="0" spc="-90" dirty="0">
                <a:latin typeface="Verdana"/>
                <a:cs typeface="Verdana"/>
              </a:rPr>
              <a:t> </a:t>
            </a:r>
            <a:r>
              <a:rPr sz="1250" b="0" dirty="0">
                <a:latin typeface="Verdana"/>
                <a:cs typeface="Verdana"/>
              </a:rPr>
              <a:t>to</a:t>
            </a:r>
            <a:r>
              <a:rPr sz="1250" b="0" spc="-90" dirty="0">
                <a:latin typeface="Verdana"/>
                <a:cs typeface="Verdana"/>
              </a:rPr>
              <a:t> </a:t>
            </a:r>
            <a:r>
              <a:rPr sz="1250" b="0" spc="-10" dirty="0">
                <a:latin typeface="Verdana"/>
                <a:cs typeface="Verdana"/>
              </a:rPr>
              <a:t>come.</a:t>
            </a:r>
            <a:endParaRPr sz="12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573</Words>
  <Application>Microsoft Office PowerPoint</Application>
  <PresentationFormat>Custom</PresentationFormat>
  <Paragraphs>76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Tahoma</vt:lpstr>
      <vt:lpstr>Verdana</vt:lpstr>
      <vt:lpstr>Office Theme</vt:lpstr>
      <vt:lpstr>Poojan Ranjya</vt:lpstr>
      <vt:lpstr>The Soulful Strings: Sitar and Veena</vt:lpstr>
      <vt:lpstr>Guardians of Musical Heritage</vt:lpstr>
      <vt:lpstr>Journey Through Time</vt:lpstr>
      <vt:lpstr>The Sitar</vt:lpstr>
      <vt:lpstr>The Veena</vt:lpstr>
      <vt:lpstr>Two Worlds, One Purpose</vt:lpstr>
      <vt:lpstr>Musical Architecture</vt:lpstr>
      <vt:lpstr>Expressive Voices</vt:lpstr>
      <vt:lpstr>Legends Who Shaped History</vt:lpstr>
      <vt:lpstr>Echoes Across the World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Poojan </dc:title>
  <cp:lastModifiedBy>Anis Mansuri</cp:lastModifiedBy>
  <cp:revision>2</cp:revision>
  <dcterms:created xsi:type="dcterms:W3CDTF">2026-04-07T10:17:53Z</dcterms:created>
  <dcterms:modified xsi:type="dcterms:W3CDTF">2026-04-07T10:22:57Z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2026-04-07T00:00:00Z</vt:filetime>
  </property>
  <property fmtid="{D5CDD505-2E9C-101B-9397-08002B2CF9AE}" pid="3" name="Creator">
    <vt:lpwstr>pdf-lib (https://github.com/Hopding/pdf-lib)</vt:lpwstr>
  </property>
  <property fmtid="{D5CDD505-2E9C-101B-9397-08002B2CF9AE}" pid="4" name="LastSaved">
    <vt:filetime>2026-04-07T00:00:00Z</vt:filetime>
  </property>
  <property fmtid="{D5CDD505-2E9C-101B-9397-08002B2CF9AE}" pid="5" name="Producer">
    <vt:lpwstr>pdf-lib (https://github.com/Hopding/pdf-lib)</vt:lpwstr>
  </property>
</Properties>
</file>